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1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slides/charts/chart2.xml" ContentType="application/vnd.openxmlformats-officedocument.drawingml.chart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9b34098a2b41ed" /><Relationship Type="http://schemas.openxmlformats.org/officeDocument/2006/relationships/extended-properties" Target="/docProps/app.xml" Id="R3d7e19c0264140ee" /><Relationship Type="http://schemas.openxmlformats.org/officeDocument/2006/relationships/officeDocument" Target="/ppt/presentation.xml" Id="R85c5efbab0e749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a1d458a5904f9a"/>
  </p:sldMasterIdLst>
  <p:notesMasterIdLst>
    <p:notesMasterId xmlns:r="http://schemas.openxmlformats.org/officeDocument/2006/relationships" r:id="Re9c1aaa559df43ab"/>
  </p:notesMasterIdLst>
  <p:sldIdLst>
    <p:sldId xmlns:r="http://schemas.openxmlformats.org/officeDocument/2006/relationships" id="256" r:id="R4a9c9fc1062848a4"/>
    <p:sldId xmlns:r="http://schemas.openxmlformats.org/officeDocument/2006/relationships" id="257" r:id="Rb9043c71047140e7"/>
    <p:sldId xmlns:r="http://schemas.openxmlformats.org/officeDocument/2006/relationships" id="258" r:id="Red1a19403ebf44cf"/>
    <p:sldId xmlns:r="http://schemas.openxmlformats.org/officeDocument/2006/relationships" id="259" r:id="R0d6c7152de29476d"/>
    <p:sldId xmlns:r="http://schemas.openxmlformats.org/officeDocument/2006/relationships" id="260" r:id="R69939ade59e44065"/>
    <p:sldId xmlns:r="http://schemas.openxmlformats.org/officeDocument/2006/relationships" id="261" r:id="Ra69c95ec135248d2"/>
    <p:sldId xmlns:r="http://schemas.openxmlformats.org/officeDocument/2006/relationships" id="262" r:id="Rb9cefd050a6c4159"/>
    <p:sldId xmlns:r="http://schemas.openxmlformats.org/officeDocument/2006/relationships" id="263" r:id="R47730ffc70444e39"/>
    <p:sldId xmlns:r="http://schemas.openxmlformats.org/officeDocument/2006/relationships" id="264" r:id="R7a708528f2e34cf3"/>
    <p:sldId xmlns:r="http://schemas.openxmlformats.org/officeDocument/2006/relationships" id="265" r:id="Rfe8042a7f2224269"/>
    <p:sldId xmlns:r="http://schemas.openxmlformats.org/officeDocument/2006/relationships" id="266" r:id="Ra05ca8fd634a4537"/>
    <p:sldId xmlns:r="http://schemas.openxmlformats.org/officeDocument/2006/relationships" id="267" r:id="Rb15501e05c0448ea"/>
    <p:sldId xmlns:r="http://schemas.openxmlformats.org/officeDocument/2006/relationships" id="268" r:id="R8c241f32f5cf40d4"/>
    <p:sldId xmlns:r="http://schemas.openxmlformats.org/officeDocument/2006/relationships" id="269" r:id="Re9bccad5cd274374"/>
    <p:sldId xmlns:r="http://schemas.openxmlformats.org/officeDocument/2006/relationships" id="270" r:id="Rab48899c3c5d4d3a"/>
    <p:sldId xmlns:r="http://schemas.openxmlformats.org/officeDocument/2006/relationships" id="271" r:id="R4c1355103e0e4a4e"/>
    <p:sldId xmlns:r="http://schemas.openxmlformats.org/officeDocument/2006/relationships" id="272" r:id="R806e77168c9a4946"/>
    <p:sldId xmlns:r="http://schemas.openxmlformats.org/officeDocument/2006/relationships" id="273" r:id="Ra16b5a799183443a"/>
    <p:sldId xmlns:r="http://schemas.openxmlformats.org/officeDocument/2006/relationships" id="274" r:id="R8017fc671c0d4c5b"/>
    <p:sldId xmlns:r="http://schemas.openxmlformats.org/officeDocument/2006/relationships" id="275" r:id="Rb8eea8a88d3c4ea8"/>
    <p:sldId xmlns:r="http://schemas.openxmlformats.org/officeDocument/2006/relationships" id="276" r:id="R5f0ab4a05efd4b3d"/>
    <p:sldId xmlns:r="http://schemas.openxmlformats.org/officeDocument/2006/relationships" id="277" r:id="R16423a19fa5d4a23"/>
    <p:sldId xmlns:r="http://schemas.openxmlformats.org/officeDocument/2006/relationships" id="278" r:id="Rcfab1e5c8aa848ee"/>
    <p:sldId xmlns:r="http://schemas.openxmlformats.org/officeDocument/2006/relationships" id="279" r:id="R5c9a16d594104e62"/>
    <p:sldId xmlns:r="http://schemas.openxmlformats.org/officeDocument/2006/relationships" id="280" r:id="R4ae84b1ac4cc446e"/>
    <p:sldId xmlns:r="http://schemas.openxmlformats.org/officeDocument/2006/relationships" id="281" r:id="R775d34b7348f47ec"/>
    <p:sldId xmlns:r="http://schemas.openxmlformats.org/officeDocument/2006/relationships" id="282" r:id="R7bc193839a46424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730625e3c8f4379" /><Relationship Type="http://schemas.openxmlformats.org/officeDocument/2006/relationships/slideMaster" Target="/ppt/slideMasters/slideMaster1.xml" Id="Re0a1d458a5904f9a" /><Relationship Type="http://schemas.openxmlformats.org/officeDocument/2006/relationships/notesMaster" Target="/ppt/notesMasters/notesMaster1.xml" Id="Re9c1aaa559df43ab" /><Relationship Type="http://schemas.openxmlformats.org/officeDocument/2006/relationships/presProps" Target="/ppt/presProps.xml" Id="R2d6afe7aa0cb4d8f" /><Relationship Type="http://schemas.openxmlformats.org/officeDocument/2006/relationships/tableStyles" Target="/ppt/tableStyles.xml" Id="Rb346ddfeab434e0a" /><Relationship Type="http://schemas.openxmlformats.org/officeDocument/2006/relationships/slide" Target="/ppt/slides/slide1.xml" Id="R4a9c9fc1062848a4" /><Relationship Type="http://schemas.openxmlformats.org/officeDocument/2006/relationships/slide" Target="/ppt/slides/slide2.xml" Id="Rb9043c71047140e7" /><Relationship Type="http://schemas.openxmlformats.org/officeDocument/2006/relationships/slide" Target="/ppt/slides/slide3.xml" Id="Red1a19403ebf44cf" /><Relationship Type="http://schemas.openxmlformats.org/officeDocument/2006/relationships/slide" Target="/ppt/slides/slide4.xml" Id="R0d6c7152de29476d" /><Relationship Type="http://schemas.openxmlformats.org/officeDocument/2006/relationships/slide" Target="/ppt/slides/slide5.xml" Id="R69939ade59e44065" /><Relationship Type="http://schemas.openxmlformats.org/officeDocument/2006/relationships/slide" Target="/ppt/slides/slide6.xml" Id="Ra69c95ec135248d2" /><Relationship Type="http://schemas.openxmlformats.org/officeDocument/2006/relationships/slide" Target="/ppt/slides/slide7.xml" Id="Rb9cefd050a6c4159" /><Relationship Type="http://schemas.openxmlformats.org/officeDocument/2006/relationships/slide" Target="/ppt/slides/slide8.xml" Id="R47730ffc70444e39" /><Relationship Type="http://schemas.openxmlformats.org/officeDocument/2006/relationships/slide" Target="/ppt/slides/slide9.xml" Id="R7a708528f2e34cf3" /><Relationship Type="http://schemas.openxmlformats.org/officeDocument/2006/relationships/slide" Target="/ppt/slides/slide10.xml" Id="Rfe8042a7f2224269" /><Relationship Type="http://schemas.openxmlformats.org/officeDocument/2006/relationships/slide" Target="/ppt/slides/slide11.xml" Id="Ra05ca8fd634a4537" /><Relationship Type="http://schemas.openxmlformats.org/officeDocument/2006/relationships/slide" Target="/ppt/slides/slide12.xml" Id="Rb15501e05c0448ea" /><Relationship Type="http://schemas.openxmlformats.org/officeDocument/2006/relationships/slide" Target="/ppt/slides/slide13.xml" Id="R8c241f32f5cf40d4" /><Relationship Type="http://schemas.openxmlformats.org/officeDocument/2006/relationships/slide" Target="/ppt/slides/slide14.xml" Id="Re9bccad5cd274374" /><Relationship Type="http://schemas.openxmlformats.org/officeDocument/2006/relationships/slide" Target="/ppt/slides/slide15.xml" Id="Rab48899c3c5d4d3a" /><Relationship Type="http://schemas.openxmlformats.org/officeDocument/2006/relationships/slide" Target="/ppt/slides/slide16.xml" Id="R4c1355103e0e4a4e" /><Relationship Type="http://schemas.openxmlformats.org/officeDocument/2006/relationships/slide" Target="/ppt/slides/slide17.xml" Id="R806e77168c9a4946" /><Relationship Type="http://schemas.openxmlformats.org/officeDocument/2006/relationships/slide" Target="/ppt/slides/slide18.xml" Id="Ra16b5a799183443a" /><Relationship Type="http://schemas.openxmlformats.org/officeDocument/2006/relationships/slide" Target="/ppt/slides/slide19.xml" Id="R8017fc671c0d4c5b" /><Relationship Type="http://schemas.openxmlformats.org/officeDocument/2006/relationships/slide" Target="/ppt/slides/slide20.xml" Id="Rb8eea8a88d3c4ea8" /><Relationship Type="http://schemas.openxmlformats.org/officeDocument/2006/relationships/slide" Target="/ppt/slides/slide21.xml" Id="R5f0ab4a05efd4b3d" /><Relationship Type="http://schemas.openxmlformats.org/officeDocument/2006/relationships/slide" Target="/ppt/slides/slide22.xml" Id="R16423a19fa5d4a23" /><Relationship Type="http://schemas.openxmlformats.org/officeDocument/2006/relationships/slide" Target="/ppt/slides/slide23.xml" Id="Rcfab1e5c8aa848ee" /><Relationship Type="http://schemas.openxmlformats.org/officeDocument/2006/relationships/slide" Target="/ppt/slides/slide24.xml" Id="R5c9a16d594104e62" /><Relationship Type="http://schemas.openxmlformats.org/officeDocument/2006/relationships/slide" Target="/ppt/slides/slide25.xml" Id="R4ae84b1ac4cc446e" /><Relationship Type="http://schemas.openxmlformats.org/officeDocument/2006/relationships/slide" Target="/ppt/slides/slide26.xml" Id="R775d34b7348f47ec" /><Relationship Type="http://schemas.openxmlformats.org/officeDocument/2006/relationships/slide" Target="/ppt/slides/slide27.xml" Id="R7bc193839a46424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d99468b3c345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268e82503e4028" /><Relationship Type="http://schemas.openxmlformats.org/officeDocument/2006/relationships/notesMaster" Target="/ppt/notesMasters/notesMaster1.xml" Id="R1e48420eb9e846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9a6ca9f1cf4b0e" /><Relationship Type="http://schemas.openxmlformats.org/officeDocument/2006/relationships/notesMaster" Target="/ppt/notesMasters/notesMaster1.xml" Id="Rb6c88aa3d6f442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cc8c29c9124a57" /><Relationship Type="http://schemas.openxmlformats.org/officeDocument/2006/relationships/notesMaster" Target="/ppt/notesMasters/notesMaster1.xml" Id="Reec5b59eaec448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829183ea6424ca7" /><Relationship Type="http://schemas.openxmlformats.org/officeDocument/2006/relationships/notesMaster" Target="/ppt/notesMasters/notesMaster1.xml" Id="Rf7f2f70a59de45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ed16747374a45e3" /><Relationship Type="http://schemas.openxmlformats.org/officeDocument/2006/relationships/notesMaster" Target="/ppt/notesMasters/notesMaster1.xml" Id="R584311aaa86d4d4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4f42ae32ca4cd3" /><Relationship Type="http://schemas.openxmlformats.org/officeDocument/2006/relationships/notesMaster" Target="/ppt/notesMasters/notesMaster1.xml" Id="R121b21d927d3453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3b6c9704f8743f8" /><Relationship Type="http://schemas.openxmlformats.org/officeDocument/2006/relationships/notesMaster" Target="/ppt/notesMasters/notesMaster1.xml" Id="R0bda24b47fa84ae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4a7094564f14c1a" /><Relationship Type="http://schemas.openxmlformats.org/officeDocument/2006/relationships/notesMaster" Target="/ppt/notesMasters/notesMaster1.xml" Id="R850f948ed3ac40c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5584647579a453e" /><Relationship Type="http://schemas.openxmlformats.org/officeDocument/2006/relationships/notesMaster" Target="/ppt/notesMasters/notesMaster1.xml" Id="Rd7aeee2c9e3c419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0ada70f06c04a8b" /><Relationship Type="http://schemas.openxmlformats.org/officeDocument/2006/relationships/notesMaster" Target="/ppt/notesMasters/notesMaster1.xml" Id="R95bb6a1debb84a4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35d032524bd41c9" /><Relationship Type="http://schemas.openxmlformats.org/officeDocument/2006/relationships/notesMaster" Target="/ppt/notesMasters/notesMaster1.xml" Id="R3df261c6be054b8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c7afcd0d49b4a4a" /><Relationship Type="http://schemas.openxmlformats.org/officeDocument/2006/relationships/notesMaster" Target="/ppt/notesMasters/notesMaster1.xml" Id="Rc88bed88d7b74fe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0dd4914fce04734" /><Relationship Type="http://schemas.openxmlformats.org/officeDocument/2006/relationships/notesMaster" Target="/ppt/notesMasters/notesMaster1.xml" Id="R2ffb0979355c4f7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1422e3482be4506" /><Relationship Type="http://schemas.openxmlformats.org/officeDocument/2006/relationships/notesMaster" Target="/ppt/notesMasters/notesMaster1.xml" Id="R7ec85cb53a9e42b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d7b0b208cf240ff" /><Relationship Type="http://schemas.openxmlformats.org/officeDocument/2006/relationships/notesMaster" Target="/ppt/notesMasters/notesMaster1.xml" Id="R225640528e73400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89a87e59856469c" /><Relationship Type="http://schemas.openxmlformats.org/officeDocument/2006/relationships/notesMaster" Target="/ppt/notesMasters/notesMaster1.xml" Id="Rac5b163f3a66409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2aceb14a9d74358" /><Relationship Type="http://schemas.openxmlformats.org/officeDocument/2006/relationships/notesMaster" Target="/ppt/notesMasters/notesMaster1.xml" Id="R83655485ba2149b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bac216b61674b99" /><Relationship Type="http://schemas.openxmlformats.org/officeDocument/2006/relationships/notesMaster" Target="/ppt/notesMasters/notesMaster1.xml" Id="R38d2fac2107e4cc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b94c01745664af6" /><Relationship Type="http://schemas.openxmlformats.org/officeDocument/2006/relationships/notesMaster" Target="/ppt/notesMasters/notesMaster1.xml" Id="R676c8ea62690467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132d452bdd94a20" /><Relationship Type="http://schemas.openxmlformats.org/officeDocument/2006/relationships/notesMaster" Target="/ppt/notesMasters/notesMaster1.xml" Id="Rfafbd768128b421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0a1fe71ff8b40ab" /><Relationship Type="http://schemas.openxmlformats.org/officeDocument/2006/relationships/notesMaster" Target="/ppt/notesMasters/notesMaster1.xml" Id="R81c4008c555c404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ca5b3a606d84c98" /><Relationship Type="http://schemas.openxmlformats.org/officeDocument/2006/relationships/notesMaster" Target="/ppt/notesMasters/notesMaster1.xml" Id="R35589a5b17c54f2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257b872257a43aa" /><Relationship Type="http://schemas.openxmlformats.org/officeDocument/2006/relationships/notesMaster" Target="/ppt/notesMasters/notesMaster1.xml" Id="Rae7f85f417164d4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3bce014358d4bcd" /><Relationship Type="http://schemas.openxmlformats.org/officeDocument/2006/relationships/notesMaster" Target="/ppt/notesMasters/notesMaster1.xml" Id="Rd63ca4f11746422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6bca98fdbf34ea1" /><Relationship Type="http://schemas.openxmlformats.org/officeDocument/2006/relationships/notesMaster" Target="/ppt/notesMasters/notesMaster1.xml" Id="Raa5a39d6a5f8415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10d3c2399a84e83" /><Relationship Type="http://schemas.openxmlformats.org/officeDocument/2006/relationships/notesMaster" Target="/ppt/notesMasters/notesMaster1.xml" Id="R825ce2d288254ba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c53b310e5bc441a" /><Relationship Type="http://schemas.openxmlformats.org/officeDocument/2006/relationships/notesMaster" Target="/ppt/notesMasters/notesMaster1.xml" Id="R816284dcd6af48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Schmidt et al. (2018); tài liệu và artefact của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report/report.tex, Chương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report/report.tex, mục Bài toán instance segmentation.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data/README.md; results/dsb2018_benchmark/selected_cases.csv.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report/report.tex, Protocol benchmark và Kết quả.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Schmidt et al. (2018); report/report.tex, StarDist 2D.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report/report.tex, Tiền xử lý và quy ước số học.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Ronneberger et al. (2015); Schmidt et al. (2018); report/report.tex, CNN và U-Net.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Schmidt et al. (2018); report/report.tex, Probability map và star-convex polygon.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report/report.tex, Huấn luyện và NMS; src/xla_gr03/.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report/report.tex, Suy luận, candidate filtering và polygon NMS.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Otsu (1979); report/report.tex, Otsu và connected components.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Vincent &amp; Soille (1991); results/dsb2018_benchmark/watershed_validation_sweep.csv.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src/xla_gr03/metrics.py; report/report.tex, Matching và metric.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report/report.tex, Matching và metric.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fiji/workflows/stardist_fiji_protocol.md; results/fiji_reference/provenance.json.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fiji/workflows/stardist_fiji_protocol.md, Cài plugin và Chạy một ảnh.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results/fiji_reference/fiji_workflow_evidence.png; fiji/run_log_dsb2018_reference.csv.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results/fiji_reference/summary_metrics.csv và fiji_reference_panels.png.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src/xla_gr03/ và pyproject.toml.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README.md, pyproject.toml, scripts/ và test log của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results/dsb2018_benchmark/summary_metrics.csv; bảng kết quả trong report/report.tex.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results/dsb2018_benchmark/figures/qualitative_median.png.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results/dsb2018_benchmark/figures/qualitative_low.png; report/report.tex, Đe doạ tới tính hợp lệ.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results/cross_platform/comparison.csv và error_overlays.png. Không kết luận hai triển khai đồng nhất trên cả ba ca. Ngưỡng mô tả không thay kiểm định tương đương thống kê.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results/validation_ablation/summary_metrics.csv, provenance.json. Biểu đồ có SD trong báo cáo và PNG kèm repo. NMS cố định 0.3 khi quét probability, probability cố định 0.479071 khi quét NMS.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report/generated/slide_data.json; benchmark provenance ghi máy, phiên bản, hash model/dataset. Kết quả pretrained trên split DSB2018, chưa xác minh độc lập train/test của weight.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5484a44bbc436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8caeec6faf4fb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9c826ab5014f0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cff12cf43940b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acb7697054435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f969862dd145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B8ACB03-9224-46D8-AFF4-2C59279296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66FDC7D-C9FC-4518-86EB-84B2FB64101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68374B4-4F78-48A4-BECE-9BFBD4D83D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03A960D-7822-4E83-8FDC-F1912D6114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A2859B9-673F-4AB2-9E1C-178E42788C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A231DB8-228A-44AB-93D1-FD5A7DC20B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997025B-4355-492C-A4D2-E0A99D2AC3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C95D29E-A291-4C5D-BBCE-77AB44D80E1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31818B6-F49F-48B7-94A6-BA322DB2C0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406EF8A-B280-416B-8815-1D2D72E3A6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915625a551434b" /><Relationship Type="http://schemas.openxmlformats.org/officeDocument/2006/relationships/slideLayout" Target="/ppt/slideLayouts/slideLayout1.xml" Id="R73a28c16073e4c2e" /><Relationship Type="http://schemas.openxmlformats.org/officeDocument/2006/relationships/slideLayout" Target="/ppt/slideLayouts/slideLayout2.xml" Id="R6d0dad998bc44ee9" /><Relationship Type="http://schemas.openxmlformats.org/officeDocument/2006/relationships/slideLayout" Target="/ppt/slideLayouts/slideLayout3.xml" Id="Rf2ee3010da1b46f7" /><Relationship Type="http://schemas.openxmlformats.org/officeDocument/2006/relationships/slideLayout" Target="/ppt/slideLayouts/slideLayout4.xml" Id="R9e1de65f688f4035" /><Relationship Type="http://schemas.openxmlformats.org/officeDocument/2006/relationships/slideLayout" Target="/ppt/slideLayouts/slideLayout5.xml" Id="R907f7674563e46f1" /><Relationship Type="http://schemas.openxmlformats.org/officeDocument/2006/relationships/slideLayout" Target="/ppt/slideLayouts/slideLayout6.xml" Id="R5e7d49a84b4947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a28c16073e4c2e"/>
    <p:sldLayoutId xmlns:r="http://schemas.openxmlformats.org/officeDocument/2006/relationships" id="2147483650" r:id="R6d0dad998bc44ee9"/>
    <p:sldLayoutId xmlns:r="http://schemas.openxmlformats.org/officeDocument/2006/relationships" id="2147483651" r:id="Rf2ee3010da1b46f7"/>
    <p:sldLayoutId xmlns:r="http://schemas.openxmlformats.org/officeDocument/2006/relationships" id="2147483652" r:id="R9e1de65f688f4035"/>
    <p:sldLayoutId xmlns:r="http://schemas.openxmlformats.org/officeDocument/2006/relationships" id="2147483653" r:id="R907f7674563e46f1"/>
    <p:sldLayoutId xmlns:r="http://schemas.openxmlformats.org/officeDocument/2006/relationships" id="2147483654" r:id="R5e7d49a84b4947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88f7787fa94eed" /><Relationship Type="http://schemas.openxmlformats.org/officeDocument/2006/relationships/notesSlide" Target="/ppt/notesSlides/notesSlide1.xml" Id="Ref5b89dec87948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832410bb0b4f3a" /><Relationship Type="http://schemas.openxmlformats.org/officeDocument/2006/relationships/notesSlide" Target="/ppt/notesSlides/notesSlide2.xml" Id="R8bc99a8c6c5b4c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c7cd4e54184eee" /><Relationship Type="http://schemas.openxmlformats.org/officeDocument/2006/relationships/notesSlide" Target="/ppt/notesSlides/notesSlide3.xml" Id="R0e02f515ee7246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72251765284ff9" /><Relationship Type="http://schemas.openxmlformats.org/officeDocument/2006/relationships/image" Target="/ppt/media/image.png" Id="R8a410eabc9454520" /><Relationship Type="http://schemas.openxmlformats.org/officeDocument/2006/relationships/notesSlide" Target="/ppt/notesSlides/notesSlide4.xml" Id="Rc1ee05e3b8574e9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d94084ffac4d33" /><Relationship Type="http://schemas.openxmlformats.org/officeDocument/2006/relationships/notesSlide" Target="/ppt/notesSlides/notesSlide5.xml" Id="R4ee31bdcd22a4db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3c30ee840b4bed" /><Relationship Type="http://schemas.openxmlformats.org/officeDocument/2006/relationships/notesSlide" Target="/ppt/notesSlides/notesSlide6.xml" Id="R8ef48089169b491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f4db4dc14f40fb" /><Relationship Type="http://schemas.openxmlformats.org/officeDocument/2006/relationships/notesSlide" Target="/ppt/notesSlides/notesSlide7.xml" Id="Rbe8db966884f402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9c62729edd4693" /><Relationship Type="http://schemas.openxmlformats.org/officeDocument/2006/relationships/notesSlide" Target="/ppt/notesSlides/notesSlide8.xml" Id="R45d2eea28b87400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6b78e6913a45f8" /><Relationship Type="http://schemas.openxmlformats.org/officeDocument/2006/relationships/notesSlide" Target="/ppt/notesSlides/notesSlide9.xml" Id="Rb4965e65ab7b49b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96d77331364e1d" /><Relationship Type="http://schemas.openxmlformats.org/officeDocument/2006/relationships/notesSlide" Target="/ppt/notesSlides/notesSlide10.xml" Id="R7e2202c339d6439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a2f5b5e3c44908" /><Relationship Type="http://schemas.openxmlformats.org/officeDocument/2006/relationships/notesSlide" Target="/ppt/notesSlides/notesSlide11.xml" Id="R4761a60f491f43a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11a099eb324f20" /><Relationship Type="http://schemas.openxmlformats.org/officeDocument/2006/relationships/notesSlide" Target="/ppt/notesSlides/notesSlide12.xml" Id="R94fd48fe8127437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7c1c590fc9459f" /><Relationship Type="http://schemas.openxmlformats.org/officeDocument/2006/relationships/chart" Target="/ppt/slides/charts/chart1.xml" Id="R505abdae32594510" /><Relationship Type="http://schemas.openxmlformats.org/officeDocument/2006/relationships/notesSlide" Target="/ppt/notesSlides/notesSlide13.xml" Id="Rdee50d97fcec44d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62255f0836421a" /><Relationship Type="http://schemas.openxmlformats.org/officeDocument/2006/relationships/notesSlide" Target="/ppt/notesSlides/notesSlide14.xml" Id="R4f8066289edd4f2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a2791b0e50450e" /><Relationship Type="http://schemas.openxmlformats.org/officeDocument/2006/relationships/notesSlide" Target="/ppt/notesSlides/notesSlide15.xml" Id="R0da355aee15e481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541227d33f4ced" /><Relationship Type="http://schemas.openxmlformats.org/officeDocument/2006/relationships/notesSlide" Target="/ppt/notesSlides/notesSlide16.xml" Id="R7d2d781c1e764f1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e9bbc41e464925" /><Relationship Type="http://schemas.openxmlformats.org/officeDocument/2006/relationships/notesSlide" Target="/ppt/notesSlides/notesSlide17.xml" Id="R9b174ed82c9140c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2aecc20e1b41a4" /><Relationship Type="http://schemas.openxmlformats.org/officeDocument/2006/relationships/image" Target="/ppt/media/image2.png" Id="Reabc20a3999a4d4b" /><Relationship Type="http://schemas.openxmlformats.org/officeDocument/2006/relationships/notesSlide" Target="/ppt/notesSlides/notesSlide18.xml" Id="R129c79eb13ce40b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731999d2ed474b" /><Relationship Type="http://schemas.openxmlformats.org/officeDocument/2006/relationships/image" Target="/ppt/media/image3.png" Id="Ra9e6ae878d774fe9" /><Relationship Type="http://schemas.openxmlformats.org/officeDocument/2006/relationships/notesSlide" Target="/ppt/notesSlides/notesSlide19.xml" Id="Rd2ca773718e2401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3b658ff10f460c" /><Relationship Type="http://schemas.openxmlformats.org/officeDocument/2006/relationships/notesSlide" Target="/ppt/notesSlides/notesSlide20.xml" Id="R799323b0b2f649b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a9a35ad30b4881" /><Relationship Type="http://schemas.openxmlformats.org/officeDocument/2006/relationships/notesSlide" Target="/ppt/notesSlides/notesSlide21.xml" Id="R9d3e00c3292d427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508ea70a9b46c2" /><Relationship Type="http://schemas.openxmlformats.org/officeDocument/2006/relationships/chart" Target="/ppt/slides/charts/chart2.xml" Id="R88c4a14bfe50462d" /><Relationship Type="http://schemas.openxmlformats.org/officeDocument/2006/relationships/notesSlide" Target="/ppt/notesSlides/notesSlide22.xml" Id="Rc474ed4645ef425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77a639f1494c85" /><Relationship Type="http://schemas.openxmlformats.org/officeDocument/2006/relationships/image" Target="/ppt/media/image4.png" Id="Rbd449839a56346eb" /><Relationship Type="http://schemas.openxmlformats.org/officeDocument/2006/relationships/notesSlide" Target="/ppt/notesSlides/notesSlide23.xml" Id="R4222aa541ce84ea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5ff459c5134388" /><Relationship Type="http://schemas.openxmlformats.org/officeDocument/2006/relationships/image" Target="/ppt/media/image5.png" Id="Rcbeac15da3df40e3" /><Relationship Type="http://schemas.openxmlformats.org/officeDocument/2006/relationships/notesSlide" Target="/ppt/notesSlides/notesSlide24.xml" Id="R08c2b52a47c24bc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b5ffcce767430c" /><Relationship Type="http://schemas.openxmlformats.org/officeDocument/2006/relationships/notesSlide" Target="/ppt/notesSlides/notesSlide25.xml" Id="R33032d6cff77462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00a0f0e7a3456d" /><Relationship Type="http://schemas.openxmlformats.org/officeDocument/2006/relationships/chart" Target="/ppt/slides/charts/chart3.xml" Id="R15a9dd8354d7470f" /><Relationship Type="http://schemas.openxmlformats.org/officeDocument/2006/relationships/chart" Target="/ppt/slides/charts/chart4.xml" Id="R7bda3d27336b4670" /><Relationship Type="http://schemas.openxmlformats.org/officeDocument/2006/relationships/notesSlide" Target="/ppt/notesSlides/notesSlide26.xml" Id="R6a035b34ab1249d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bad89f79364570" /><Relationship Type="http://schemas.openxmlformats.org/officeDocument/2006/relationships/notesSlide" Target="/ppt/notesSlides/notesSlide27.xml" Id="R48f8e43ed6e64d4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Validation AP@0.50 theo min_distance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1">
              <a:solidFill>
                <a:srgbClr val="0B1F3A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AP@0.50</c:v>
          </c:tx>
          <c:spPr>
            <a:ln xmlns:a="http://schemas.openxmlformats.org/drawingml/2006/main" w="28575">
              <a:solidFill>
                <a:srgbClr val="0F766E"/>
              </a:solidFill>
              <a:prstDash val="solid"/>
            </a:ln>
          </c:spPr>
          <c:marker>
            <c:symbol val="circle"/>
            <c:size val="6"/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3</c:v>
                </c:pt>
                <c:pt idx="1">
                  <c:v>5</c:v>
                </c:pt>
                <c:pt idx="2">
                  <c:v>7</c:v>
                </c:pt>
                <c:pt idx="3">
                  <c:v>9</c:v>
                </c:pt>
                <c:pt idx="4">
                  <c:v>11</c:v>
                </c:pt>
              </c:numCache>
            </c:num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0.531312299617</c:v>
                </c:pt>
                <c:pt idx="1">
                  <c:v>0.669662473856</c:v>
                </c:pt>
                <c:pt idx="2">
                  <c:v>0.70793453464</c:v>
                </c:pt>
                <c:pt idx="3">
                  <c:v>0.708947215636</c:v>
                </c:pt>
                <c:pt idx="4">
                  <c:v>0.695619584093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4213D"/>
                  </a:solidFill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min_distance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8"/>
          <c:min val="0.45"/>
        </c:scaling>
        <c:delete val="0"/>
        <c:axPos val="l"/>
        <c:majorGridlines>
          <c:spPr>
            <a:ln xmlns:a="http://schemas.openxmlformats.org/drawingml/2006/main" w="9525">
              <a:solidFill>
                <a:srgbClr val="CFE0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1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AP@0.50 và PQ@0.50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0B1F3A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AP@0.50</c:v>
          </c:tx>
          <c:spPr>
            <a:solidFill xmlns:a="http://schemas.openxmlformats.org/drawingml/2006/main">
              <a:srgbClr val="1363DF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Otsu</c:v>
                </c:pt>
                <c:pt idx="1">
                  <c:v>Watershed</c:v>
                </c:pt>
                <c:pt idx="2">
                  <c:v>StarDist Python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0.642813855542</c:v>
                </c:pt>
                <c:pt idx="1">
                  <c:v>0.714973825764</c:v>
                </c:pt>
                <c:pt idx="2">
                  <c:v>0.846022576648</c:v>
                </c:pt>
              </c:numCache>
            </c:numRef>
          </c:val>
        </c:ser>
        <c:ser>
          <c:idx val="1"/>
          <c:order val="1"/>
          <c:tx>
            <c:v>PQ@0.50</c:v>
          </c:tx>
          <c:spPr>
            <a:solidFill xmlns:a="http://schemas.openxmlformats.org/drawingml/2006/main">
              <a:srgbClr val="48CAE4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Otsu</c:v>
                </c:pt>
                <c:pt idx="1">
                  <c:v>Watershed</c:v>
                </c:pt>
                <c:pt idx="2">
                  <c:v>StarDist Python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0.626610472581</c:v>
                </c:pt>
                <c:pt idx="1">
                  <c:v>0.67706833036</c:v>
                </c:pt>
                <c:pt idx="2">
                  <c:v>0.781629894585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4213D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FE0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52616B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Arial"/>
                <a:ea typeface="Arial"/>
                <a:cs typeface="Arial"/>
              </a:rPr>
              <a:t>Probability threshold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AP@0.50</c:v>
          </c:tx>
          <c:spPr>
            <a:ln xmlns:a="http://schemas.openxmlformats.org/drawingml/2006/main" w="28575">
              <a:solidFill>
                <a:srgbClr val="1363DF"/>
              </a:solidFill>
            </a:ln>
          </c:spPr>
          <c:marker>
            <c:symbol val="circle"/>
            <c:size val="6"/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0.3</c:v>
                </c:pt>
                <c:pt idx="1">
                  <c:v>0.4</c:v>
                </c:pt>
                <c:pt idx="2">
                  <c:v>0.5</c:v>
                </c:pt>
                <c:pt idx="3">
                  <c:v>0.6</c:v>
                </c:pt>
                <c:pt idx="4">
                  <c:v>0.7</c:v>
                </c:pt>
              </c:numCache>
            </c:num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0.864322149344</c:v>
                </c:pt>
                <c:pt idx="1">
                  <c:v>0.857777017219</c:v>
                </c:pt>
                <c:pt idx="2">
                  <c:v>0.840507620858</c:v>
                </c:pt>
                <c:pt idx="3">
                  <c:v>0.817543511627</c:v>
                </c:pt>
                <c:pt idx="4">
                  <c:v>0.777074633966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95"/>
          <c:min val="0.7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Arial"/>
                <a:ea typeface="Arial"/>
                <a:cs typeface="Arial"/>
              </a:rPr>
              <a:t>NMS threshold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AP@0.50</c:v>
          </c:tx>
          <c:spPr>
            <a:ln xmlns:a="http://schemas.openxmlformats.org/drawingml/2006/main" w="28575">
              <a:solidFill>
                <a:srgbClr val="1363DF"/>
              </a:solidFill>
            </a:ln>
          </c:spPr>
          <c:marker>
            <c:symbol val="circle"/>
            <c:size val="6"/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</c:numCache>
            </c:num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0.843569790949</c:v>
                </c:pt>
                <c:pt idx="1">
                  <c:v>0.847274665681</c:v>
                </c:pt>
                <c:pt idx="2">
                  <c:v>0.84784793449</c:v>
                </c:pt>
                <c:pt idx="3">
                  <c:v>0.847207820692</c:v>
                </c:pt>
                <c:pt idx="4">
                  <c:v>0.844192485717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95"/>
          <c:min val="0.7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F10156-1501-43A8-BB71-905609D0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19200"/>
            <a:ext cx="8953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PHÂN ĐOẠN TỪNG ĐỐI TƯỢNG</a:t>
            </a:r>
          </a:p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BẰNG DEEP LEARNING VỚI STARDIST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BEB9C9-5917-4E5D-B0C1-DD3115B4C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000"/>
          </a:bodyPr>
          <a:lstStyle xmlns:a="http://schemas.openxmlformats.org/drawingml/2006/main">
            <a:defPPr algn="l">
              <a:defRPr sz="1875" b="0">
                <a:solidFill>
                  <a:srgbClr val="48CAE4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48CAE4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48CAE4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48CAE4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48CAE4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48CAE4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48CAE4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48CAE4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48CAE4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48CA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8CAE4"/>
                </a:solidFill>
                <a:latin typeface="Arial"/>
                <a:ea typeface="Arial"/>
                <a:cs typeface="Arial"/>
              </a:rPr>
              <a:t>Instance segmentation - đối chiếu Fiji/ImageJ và cài đặt Python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60F408-1288-4826-A870-1360BCE9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>
            <a:def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Bài tập lớn Xử lý ảnh số | Nhóm 03 | PTIT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858B4B-76CB-4C7E-8B86-83B3D107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685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4E2F4"/>
                </a:solidFill>
                <a:latin typeface="Arial"/>
                <a:ea typeface="Arial"/>
                <a:cs typeface="Arial"/>
              </a:rPr>
              <a:t>Nguyễn Hồng Quang - B23DCVT361</a:t>
            </a:r>
          </a:p>
          <a:p xmlns:a="http://schemas.openxmlformats.org/drawingml/2006/main">
            <a:pPr algn="l">
              <a:defRPr sz="1275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4E2F4"/>
                </a:solidFill>
                <a:latin typeface="Arial"/>
                <a:ea typeface="Arial"/>
                <a:cs typeface="Arial"/>
              </a:rPr>
              <a:t>Nguyễn Trọng Nam Khánh - B23DCCE052</a:t>
            </a:r>
          </a:p>
          <a:p xmlns:a="http://schemas.openxmlformats.org/drawingml/2006/main">
            <a:pPr algn="l">
              <a:defRPr sz="1275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4E2F4"/>
                </a:solidFill>
                <a:latin typeface="Arial"/>
                <a:ea typeface="Arial"/>
                <a:cs typeface="Arial"/>
              </a:rPr>
              <a:t>Vũ Dũng - B23DCVT110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A1E132-A4B6-488D-B803-7C57EA22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864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>
            <a:defPPr algn="l">
              <a:defRPr sz="1350" b="0">
                <a:solidFill>
                  <a:srgbClr val="48CAE4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48CAE4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48CAE4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48CAE4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48CAE4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48CAE4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48CAE4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48CAE4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48CAE4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48CA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8CAE4"/>
                </a:solidFill>
                <a:latin typeface="Arial"/>
                <a:ea typeface="Arial"/>
                <a:cs typeface="Arial"/>
              </a:rPr>
              <a:t>StarDist 2D | DSB2018 | Fiji/ImageJ | Python</a:t>
            </a:r>
          </a:p>
        </p:txBody>
      </p:sp>
    </p:spTree>
    <p:extLst>
      <p:ext uri="{BB962C8B-B14F-4D97-AF65-F5344CB8AC3E}">
        <p14:creationId xmlns:p14="http://schemas.microsoft.com/office/powerpoint/2010/main" val="98269642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6CF4FB-61A9-42E1-91EA-113AD99C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Mục tiêu, phạm vi và câu hỏi nghiên cứu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8834C1-73AB-4221-8840-59B6117E2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572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>
            <a:def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2F1696-5E00-4C1B-AA9E-671CB2D5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048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C4ABFA-9858-4CB2-AF3E-85E4831C0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9D93DC-F4F8-4448-9C52-3A3EA305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526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71060A-C41E-4005-AA33-6B1F5505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85925"/>
            <a:ext cx="413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>
            <a:def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Nghiên cứu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675E9F-8701-4F89-9A69-6031AC17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00250"/>
            <a:ext cx="4133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Lý thuyết instance segmentation, CNN/U-Net, star-convex và NMS.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827BEF-E97C-4770-A4C4-EE277B2D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524000"/>
            <a:ext cx="5048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2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A2CE5E-1735-471C-99A1-52BB224E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6954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193DF3-481A-4DC2-8158-05965091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7526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D7D881-7931-4777-9AE3-8B8559DE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685925"/>
            <a:ext cx="413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>
            <a:def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Tham chiếu Fiji/ImageJ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DA1546-DFBD-4E48-BC2C-DAD9CF93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000250"/>
            <a:ext cx="4133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Chạy plugin StarDist thật, lưu Label TIFF, thông số và runtime.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906946-3B69-473A-8DC2-15414D2A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5048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7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931DF4-FF89-4A20-920C-E2DE22C2A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D289D3-BF4E-48B1-8A8E-9DED5BFC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766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7C8B34-070E-4ABF-876F-5E2A05AC8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09925"/>
            <a:ext cx="413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>
            <a:def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Cài đặt Python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E2ACE1-AF2D-4030-AE76-DED5997E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4133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Tái lập baseline, hình học, matching metric và wrapper pretrained.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E0D13C-8870-4FC7-828B-6F570070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48000"/>
            <a:ext cx="5048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F0E667-0010-48AA-903A-4E8591786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194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28AF92-F16F-4B79-A225-E618695A0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766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C4E930-918B-4DFB-BEC1-E0DEBFA9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09925"/>
            <a:ext cx="413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>
            <a:def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Đánh giá định lượng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F92585-8608-429A-9C45-64AC7D62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524250"/>
            <a:ext cx="4133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So sánh Otsu, Watershed, StarDist trên 50 ảnh test và Fiji trên 3 ca.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F313A6-1F16-47A1-9D98-D3F8786E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>
            <a:defPPr algn="ctr"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RQ1: StarDist có tách object chạm nhau tốt hơn baseline?  RQ2: Fiji và Python có khớp khi giữ input/tham số?  RQ3: threshold ảnh hưởng thế nào?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D0CB6B-57C6-49D6-9599-48F00FDD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Phạm vi: inference với model pretrained, không tuyên bố huấn luyện lại CNN.</a:t>
            </a:r>
          </a:p>
        </p:txBody>
      </p:sp>
    </p:spTree>
    <p:extLst>
      <p:ext uri="{BB962C8B-B14F-4D97-AF65-F5344CB8AC3E}">
        <p14:creationId xmlns:p14="http://schemas.microsoft.com/office/powerpoint/2010/main" val="5474251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289F5E-3154-44B5-AB29-6D3AB8FD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Bài toán instance segmentation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F20751-B559-48AE-96B1-1D704507B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985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>
            <a:def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Một pixel nền có label 0. Mỗi object phải có ID dương riêng.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1FDD41-A5CD-4376-ACBF-E82569EE9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572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>
            <a:def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23D24F-ADE2-4F08-BBC7-59C546340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321945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A9689B-ABD8-40A7-94F1-4E3101B83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812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>
            <a:defPPr algn="ctr"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Semantic segmentation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E32017-60AC-4121-B446-EE4EDE92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260985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Dự đoán foreground/background. Hai nhân chạm nhau vẫn có thể là một vùng liên thông.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2AD806-D99C-4EB4-8F4C-D5426186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1790700"/>
            <a:ext cx="321945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7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3EDB9B-67D2-48C4-B618-4430E29B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9812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>
            <a:defPPr algn="ctr">
              <a:defRPr sz="18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Object detection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2EE693-2962-4E89-87A9-7105CAA1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457450"/>
            <a:ext cx="260985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Trả bounding box và score. Định vị được object nhưng không đủ cho diện tích hay hình dạng.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C314FB-7EAD-4351-B179-F82F4929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90700"/>
            <a:ext cx="321945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2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DBCA9B-95CB-46F2-B4B2-343A980C1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9812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>
            <a:defPPr algn="ctr">
              <a:defRPr sz="18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Instance segmentation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E12BC0-6FD0-4323-B209-528CAD32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57450"/>
            <a:ext cx="260985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Trả mask hoặc polygon riêng cho từng object. Có thể đếm, đo diện tích và chu vi.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25F747-E80D-40A2-B9CC-A18FDBC4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>
            <a:defPPr algn="ctr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Mục tiêu toán học: I: Ω → Rᶜ  |  Y: Ω → {0,1,...,M}  |  Ŷ = fθ(I)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57F9D7-ED44-49EC-9392-1C5D72816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Một Dice foreground cao vẫn có thể che lỗi merge/split. Vì vậy cần matching từng instance.</a:t>
            </a:r>
          </a:p>
        </p:txBody>
      </p:sp>
    </p:spTree>
    <p:extLst>
      <p:ext uri="{BB962C8B-B14F-4D97-AF65-F5344CB8AC3E}">
        <p14:creationId xmlns:p14="http://schemas.microsoft.com/office/powerpoint/2010/main" val="89370319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BE5186-9FD9-42F1-A5FB-558CC4F8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Dataset, ground truth và split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724CD7-A48C-4D91-9BF2-9564C93D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985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>
            <a:def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DSB2018 được versioned trong repository để tái lập đúng kết quả.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33394B-8E31-4378-A26A-DF6864BB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572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>
            <a:def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234543-DB78-49E5-B502-E75F3CE2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>
            <a:defPPr algn="ctr">
              <a:defRPr sz="2700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defPPr>
            <a:lvl1pPr algn="ctr">
              <a:defRPr sz="2700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1pPr>
            <a:lvl2pPr algn="ctr">
              <a:defRPr sz="2700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2pPr>
            <a:lvl3pPr algn="ctr">
              <a:defRPr sz="2700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3pPr>
            <a:lvl4pPr algn="ctr">
              <a:defRPr sz="2700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4pPr>
            <a:lvl5pPr algn="ctr">
              <a:defRPr sz="2700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5pPr>
            <a:lvl6pPr algn="ctr">
              <a:defRPr sz="2700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6pPr>
            <a:lvl7pPr algn="ctr">
              <a:defRPr sz="2700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7pPr>
            <a:lvl8pPr algn="ctr">
              <a:defRPr sz="2700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8pPr>
            <a:lvl9pPr algn="ctr">
              <a:defRPr sz="2700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700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497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E700ED-7764-4400-A00C-291BCEA8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716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072"/>
          </a:bodyPr>
          <a:lstStyle xmlns:a="http://schemas.openxmlformats.org/drawingml/2006/main">
            <a:defPPr algn="ctr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cặp TIFF image + instance label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D9D497-AFE0-442D-A228-56B9E0FE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7637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>
            <a:defPPr algn="ctr">
              <a:defRPr sz="27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defPPr>
            <a:lvl1pPr algn="ctr">
              <a:defRPr sz="27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1pPr>
            <a:lvl2pPr algn="ctr">
              <a:defRPr sz="27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2pPr>
            <a:lvl3pPr algn="ctr">
              <a:defRPr sz="27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3pPr>
            <a:lvl4pPr algn="ctr">
              <a:defRPr sz="27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4pPr>
            <a:lvl5pPr algn="ctr">
              <a:defRPr sz="27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5pPr>
            <a:lvl6pPr algn="ctr">
              <a:defRPr sz="27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6pPr>
            <a:lvl7pPr algn="ctr">
              <a:defRPr sz="27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7pPr>
            <a:lvl8pPr algn="ctr">
              <a:defRPr sz="27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8pPr>
            <a:lvl9pPr algn="ctr">
              <a:defRPr sz="27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7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447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628540-306E-419C-8EDB-1EEEEB17E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716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>
            <a:defPPr algn="ctr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ảnh train, dùng development/validation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9E52CB-9642-4D06-9156-B75954ED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47637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>
            <a:defPPr algn="ctr">
              <a:defRPr sz="27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defPPr>
            <a:lvl1pPr algn="ctr">
              <a:defRPr sz="27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1pPr>
            <a:lvl2pPr algn="ctr">
              <a:defRPr sz="27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2pPr>
            <a:lvl3pPr algn="ctr">
              <a:defRPr sz="27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3pPr>
            <a:lvl4pPr algn="ctr">
              <a:defRPr sz="27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4pPr>
            <a:lvl5pPr algn="ctr">
              <a:defRPr sz="27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5pPr>
            <a:lvl6pPr algn="ctr">
              <a:defRPr sz="27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6pPr>
            <a:lvl7pPr algn="ctr">
              <a:defRPr sz="27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7pPr>
            <a:lvl8pPr algn="ctr">
              <a:defRPr sz="27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8pPr>
            <a:lvl9pPr algn="ctr">
              <a:defRPr sz="27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7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082CFF-7716-4D32-895C-069FA82A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9716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916"/>
          </a:bodyPr>
          <a:lstStyle xmlns:a="http://schemas.openxmlformats.org/drawingml/2006/main">
            <a:defPPr algn="ctr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ảnh test, chỉ dùng đánh giá cuối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31162A-BB9C-435B-98FF-79170F10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7637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>
            <a:defPPr algn="ctr">
              <a:defRPr sz="2700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defPPr>
            <a:lvl1pPr algn="ctr">
              <a:defRPr sz="2700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lvl1pPr>
            <a:lvl2pPr algn="ctr">
              <a:defRPr sz="2700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lvl2pPr>
            <a:lvl3pPr algn="ctr">
              <a:defRPr sz="2700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lvl3pPr>
            <a:lvl4pPr algn="ctr">
              <a:defRPr sz="2700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lvl4pPr>
            <a:lvl5pPr algn="ctr">
              <a:defRPr sz="2700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lvl5pPr>
            <a:lvl6pPr algn="ctr">
              <a:defRPr sz="2700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lvl6pPr>
            <a:lvl7pPr algn="ctr">
              <a:defRPr sz="2700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lvl7pPr>
            <a:lvl8pPr algn="ctr">
              <a:defRPr sz="2700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lvl8pPr>
            <a:lvl9pPr algn="ctr">
              <a:defRPr sz="2700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700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C2410C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63546A-BEB2-48FF-BADE-7B272C70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716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ID nền trong Label Image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858686-FCF6-4B08-86C8-BEC356ED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018"/>
          </a:bodyPr>
          <a:lstStyle xmlns:a="http://schemas.openxmlformats.org/drawingml/2006/main">
            <a:def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Quy ước bắt buộc: input và ground truth cùng basename/kích thước; label là TIFF số nguyên 2D, không phải PNG RGB màu.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94915D-D5EA-4997-ACAD-C5916B6CC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108204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3A52BB-294C-4334-B5C6-0AEB7241F3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410eabc9454520"/>
          <a:stretch xmlns:a="http://schemas.openxmlformats.org/drawingml/2006/main"/>
        </p:blipFill>
        <p:spPr>
          <a:xfrm xmlns:a="http://schemas.openxmlformats.org/drawingml/2006/main">
            <a:off x="1444087" y="3295650"/>
            <a:ext cx="9303826" cy="21526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C7BA9B-D6AC-42E4-A625-0AD4C9F3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Data: data/dsb2018/dsb2018/ | Label IDs trong ảnh màu chỉ phục vụ hiển thị.</a:t>
            </a:r>
          </a:p>
        </p:txBody>
      </p:sp>
    </p:spTree>
    <p:extLst>
      <p:ext uri="{BB962C8B-B14F-4D97-AF65-F5344CB8AC3E}">
        <p14:creationId xmlns:p14="http://schemas.microsoft.com/office/powerpoint/2010/main" val="2962315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45DD2F-BBE3-42F0-A34E-86CD8AE85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Protocol thực nghiệm công bằng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F7CA4A-6A04-4A0C-9DD6-52A579E9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572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>
            <a:def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38CBB7-5BA4-4F38-A0B3-D61C6949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5048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0AADD6-82FB-44B5-AF52-57FD7193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43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D38FD9-BF76-40DF-9E1F-0F03424F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02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EEC99A-A40D-4C2B-8E1D-2EFA9184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33550"/>
            <a:ext cx="413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>
            <a:def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Development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F1319E-85C8-4297-948C-4998DE92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47875"/>
            <a:ext cx="4133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Kiểm tra I/O, label format và code. Không báo cáo metric ở bước này.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AA5450-5214-402A-84C8-588011980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571625"/>
            <a:ext cx="5048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7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B1E0EE-D353-471C-97BE-AE4D543DF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743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B46B9F-94F2-4C94-8274-9CFF30F6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002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43D847-4F1C-4EC2-92A7-F761EE480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733550"/>
            <a:ext cx="413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>
            <a:def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4078ED-3D6D-425E-AB56-EA984F00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047875"/>
            <a:ext cx="4133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Chọn Watershed min_distance=9 bằng 30 ảnh lấy seed 42 từ train.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BB9C65-CC6B-4180-B93E-CE6877ED6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5048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8DE856-B07A-493C-B94D-F4B4E27DE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67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57FEB7-B670-43A0-A97B-266205BF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242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B9D9AD-FBA8-4E42-B47D-FFA0CE33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57550"/>
            <a:ext cx="413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>
            <a:def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Test benchmark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B050ED-418A-48C9-8DD8-85553BA1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71875"/>
            <a:ext cx="4133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Otsu, Watershed và StarDist Python chạy trên toàn bộ 50 ảnh test.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46407D-8FA3-48E0-B6EA-646283545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95625"/>
            <a:ext cx="5048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2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7929DF-FACA-4195-ABC9-768A91C4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67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F2D4B3-F237-490B-94AE-0A416C34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242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A3E189-6F59-4D05-9FAF-25D433FD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57550"/>
            <a:ext cx="413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>
            <a:def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Fiji reference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70DD44-54A3-47C9-86B9-B45B629A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571875"/>
            <a:ext cx="4133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Ba ca low/median/high cố định để kiểm chứng cross-platform, không gộp n=3 vào n=50.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8C5A99-A3A5-4AE3-9210-5E4346BA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Cùng input, ground truth, cách tính metric và định dạng Label TIFF cho mọi phương pháp.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C51B70-D340-40C7-B50B-BA72D16B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StarDist dùng p=0.479071 và NMS=0.3 từ model, không tune trên test.</a:t>
            </a:r>
          </a:p>
        </p:txBody>
      </p:sp>
    </p:spTree>
    <p:extLst>
      <p:ext uri="{BB962C8B-B14F-4D97-AF65-F5344CB8AC3E}">
        <p14:creationId xmlns:p14="http://schemas.microsoft.com/office/powerpoint/2010/main" val="211819867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2B6175-9852-4FE4-A799-98694206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StarDist 2D: từ ảnh đến nhãn instance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3626B1-DDBC-4769-8BB4-898EC5F6F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985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>
            <a:def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Backbone CNN tạo prediction dày đặc, hậu xử lý biến prediction thành polygon có ID.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729BBF-32AA-4EFB-9B13-397B7219B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572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>
            <a:def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B17E8C-EB7A-468E-B57A-65C3E4C17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16573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06B96A-FFFF-4314-9931-94D46620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4B3A98-976B-4343-AF77-01552CF0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861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>
            <a:def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Ảnh TIFF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E3BAB7-8625-4317-A486-B80936222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10D6C9-7D34-45FC-A078-3959416F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2895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8102"/>
          </a:bodyPr>
          <a:lstStyle xmlns:a="http://schemas.openxmlformats.org/drawingml/2006/main">
            <a:defPPr algn="ctr">
              <a:defRPr sz="1800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8CAE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D72FD2-4378-4815-B954-4F6DC06D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6500"/>
            <a:ext cx="16573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C3C29B-2657-4D10-8661-21C3E2E3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647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06AE01-2F47-4D4C-8ED6-8103B362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861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>
            <a:def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Normalize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7B02A5-D164-4E94-BB44-CF9ED85F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4480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percentile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7DD3C2-AD1C-4C35-8AA9-D0921B0A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02895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8102"/>
          </a:bodyPr>
          <a:lstStyle xmlns:a="http://schemas.openxmlformats.org/drawingml/2006/main">
            <a:defPPr algn="ctr">
              <a:defRPr sz="1800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8CAE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D177A3-5C49-49B6-9390-3FFEE9BBA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76500"/>
            <a:ext cx="16573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3F8D98-C93A-4200-AA9F-FD05B60BA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47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FC3119-ECC8-4140-BA90-5AD85008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861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>
            <a:def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U-Net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5B8CB4-42F4-48DC-9845-F3A88AF3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480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shared features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23DFE3-FCCB-435F-A5D4-E73BEAA1D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2895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8102"/>
          </a:bodyPr>
          <a:lstStyle xmlns:a="http://schemas.openxmlformats.org/drawingml/2006/main">
            <a:defPPr algn="ctr">
              <a:defRPr sz="1800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8CAE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25255C-E7F7-4040-A14C-2C4620C1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76500"/>
            <a:ext cx="16573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9838CB-E7A2-488B-A58C-B33795E2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47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B008C0-87C2-48A7-8648-D1FEB1D9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861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>
            <a:def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Hai head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3B424D-E537-41A3-A6B0-9F11033F0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480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p và rₖ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D1EA7A-7ADC-4101-AC3B-D130F4DA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02895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8102"/>
          </a:bodyPr>
          <a:lstStyle xmlns:a="http://schemas.openxmlformats.org/drawingml/2006/main">
            <a:defPPr algn="ctr">
              <a:defRPr sz="1800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8CAE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B1CC1B-4B01-4DA8-B0A1-A6D86CC15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76500"/>
            <a:ext cx="16573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B6B939-84ED-4887-8B14-DB7EFDB1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47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B5ED5B-AF74-46D4-AC96-627CA4A8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861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>
            <a:def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NMS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AA38F1-6B85-46C9-833A-42ABD0C2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4480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polygon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6F394A-D0C6-4C72-9566-F191C9732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02895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8102"/>
          </a:bodyPr>
          <a:lstStyle xmlns:a="http://schemas.openxmlformats.org/drawingml/2006/main">
            <a:defPPr algn="ctr">
              <a:defRPr sz="1800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8CAE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206016-E291-4DC8-B1AF-0A49BCC59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476500"/>
            <a:ext cx="16573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6FDAD6-E563-4D4D-B33D-D19EEA8BE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647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2E0769-813E-463E-9F84-2BA0D942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0861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>
            <a:def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Label TIFF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4D2EAF-3D73-458A-95CC-D227D9796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4480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ID 1..N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41419E-BF7F-41F3-BB93-6CA59D9F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62500"/>
            <a:ext cx="986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Output không phải semantic mask. Mỗi polygon giữ lại sau NMS được rasterize thành một ID instance riêng.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3D59DA1-3C49-4957-8BFD-DACF1A4C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Paper gốc StarDist 2D dùng 32 tia radial cho mỗi pixel foreground.</a:t>
            </a:r>
          </a:p>
        </p:txBody>
      </p:sp>
    </p:spTree>
    <p:extLst>
      <p:ext uri="{BB962C8B-B14F-4D97-AF65-F5344CB8AC3E}">
        <p14:creationId xmlns:p14="http://schemas.microsoft.com/office/powerpoint/2010/main" val="114029298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F29A81-F37E-4735-93E8-EB36C68D1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Tiền xử lý: percentile normalization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4A8652-F8CC-4AE3-B550-7CF9A244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572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>
            <a:def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975D7-2320-40D7-9DC4-A767610FF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5048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B7A95D-6658-4E7C-9DCB-3B50E233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4514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917"/>
          </a:bodyPr>
          <a:lstStyle xmlns:a="http://schemas.openxmlformats.org/drawingml/2006/main">
            <a:defPPr algn="ctr">
              <a:defRPr sz="18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I_norm(q) = (I(q) - Q₁(I)) / (Q₉₉.₈(I) - Q₁(I) + ε)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6DDF3E-E1F1-4CF6-8300-1627A65D1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428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Python dùng percentile NumPy tuyến tính, ε = 10⁻²⁰, clip=False. Giá trị có thể nằm ngoài [0,1].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215C87-D311-4B1C-85CA-418DA2856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81150"/>
            <a:ext cx="5029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DB556E-0EB7-408C-B8FA-01E928D0A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81200"/>
            <a:ext cx="445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>
            <a:defPPr algn="ctr">
              <a:defRPr sz="18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Quy tắc tái lập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6FBCB0-C90A-4076-BB40-4951E66E7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90800"/>
            <a:ext cx="40767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977"/>
          </a:bodyPr>
          <a:lstStyle xmlns:a="http://schemas.openxmlformats.org/drawingml/2006/main">
            <a:def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Cùng percentile đặt trước 1 / 99.8. Java dùng histogram percentile và chặn giá trị âm về 0, nên hai đầu vào chưa giống hệt nhau.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Ghi rõ chính sách trong provenance và đo độ khớp output.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51848B-EDA8-40F8-9359-A8DE1FBF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1043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Mục đích: giảm ảnh hưởng outlier sáng/tối và đưa ảnh vào thang cường độ phù hợp model pretrained.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031635-CB88-4AD2-8808-DE9377A3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Tham số được ghi trong run log Fiji và provenance của benchmark Python.</a:t>
            </a:r>
          </a:p>
        </p:txBody>
      </p:sp>
    </p:spTree>
    <p:extLst>
      <p:ext uri="{BB962C8B-B14F-4D97-AF65-F5344CB8AC3E}">
        <p14:creationId xmlns:p14="http://schemas.microsoft.com/office/powerpoint/2010/main" val="134616188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5928F6-6CD8-4A49-8DE8-6BDB296B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CNN/U-Net: backbone đa đầu 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F03B4F-559A-44CC-9EE3-208EFEE3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572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>
            <a:def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CDEC3D-EA37-4820-B8AB-879BEB4D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4003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38CD0A-DEA7-4834-ADD0-C4810ECC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>
            <a:def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83AEA4-6926-4287-B679-F6548AEAD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14625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>
            <a:defPPr algn="ctr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576D3F-EFF4-478B-B0A7-C0A9BF276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Downsample để học ngữ cảnh và receptive field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30EF0C-DE70-434E-ACD8-E4C64C8CE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857500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481"/>
          </a:bodyPr>
          <a:lstStyle xmlns:a="http://schemas.openxmlformats.org/drawingml/2006/main">
            <a:defPPr algn="ctr">
              <a:defRPr sz="202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48CAE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F154AF-4E73-4A55-ACB0-44193024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95500"/>
            <a:ext cx="24003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7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D68375-7896-42E1-9B7C-3ED33110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26695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>
            <a:def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A2FB87-7B98-410C-9BE7-FBBF864F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14625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>
            <a:defPPr algn="ctr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Bottleneck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3D2847-B693-4101-BD3C-9AE4D330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181350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Feature ngữ nghĩa ở độ phân giải thấp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37D9C7-FCEB-4BFE-A322-1BE7554E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57500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481"/>
          </a:bodyPr>
          <a:lstStyle xmlns:a="http://schemas.openxmlformats.org/drawingml/2006/main">
            <a:defPPr algn="ctr">
              <a:defRPr sz="202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48CAE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BBF009-8277-4D16-AA09-880967A3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95500"/>
            <a:ext cx="24003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2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72ACB0-93FB-4348-BACF-93D630DA0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6695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>
            <a:def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7C7065-6125-445C-AB58-7F84DFD1D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714625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>
            <a:defPPr algn="ctr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Decoder + skip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8CDB0B-5AFA-4544-9341-AEC52E1E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81350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684"/>
          </a:bodyPr>
          <a:lstStyle xmlns:a="http://schemas.openxmlformats.org/drawingml/2006/main">
            <a:defPPr algn="ctr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Upsample, ghép feature cùng scale để phục hồi biên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F97858-C3E5-43AD-8263-3F901E30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95500"/>
            <a:ext cx="17907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94E704-F66C-435D-B11F-E1185EDD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0030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Hai head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5C9059-309D-4A92-BA2F-7E7FC4A2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57500"/>
            <a:ext cx="1409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84"/>
          </a:bodyPr>
          <a:lstStyle xmlns:a="http://schemas.openxmlformats.org/drawingml/2006/main">
            <a:defPPr algn="ctr">
              <a:defRPr sz="1275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4E2F4"/>
                </a:solidFill>
                <a:latin typeface="Arial"/>
                <a:ea typeface="Arial"/>
                <a:cs typeface="Arial"/>
              </a:rPr>
              <a:t>Probability</a:t>
            </a:r>
          </a:p>
          <a:p xmlns:a="http://schemas.openxmlformats.org/drawingml/2006/main">
            <a:pPr algn="ctr">
              <a:defRPr sz="1275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4E2F4"/>
                </a:solidFill>
                <a:latin typeface="Arial"/>
                <a:ea typeface="Arial"/>
                <a:cs typeface="Arial"/>
              </a:rPr>
              <a:t>p̂(q)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75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4E2F4"/>
                </a:solidFill>
                <a:latin typeface="Arial"/>
                <a:ea typeface="Arial"/>
                <a:cs typeface="Arial"/>
              </a:rPr>
              <a:t>Ray distances</a:t>
            </a:r>
          </a:p>
          <a:p xmlns:a="http://schemas.openxmlformats.org/drawingml/2006/main">
            <a:pPr algn="ctr">
              <a:defRPr sz="1275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4E2F4"/>
                </a:solidFill>
                <a:latin typeface="Arial"/>
                <a:ea typeface="Arial"/>
                <a:cs typeface="Arial"/>
              </a:rPr>
              <a:t>r̂(q) ∈ R⁺ᴷ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B4C32C-F0CD-4747-A44E-76D1C81F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10363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(p̂(q), r̂(q)) = hθ(I)(q): score cho proposal và K khoảng cách từ pixel đến biên object.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F129B5-0ACE-4805-9249-A14D0457A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Nhóm gọi model pretrained chính thức, không tuyên bố tự train lại toàn bộ CNN.</a:t>
            </a:r>
          </a:p>
        </p:txBody>
      </p:sp>
    </p:spTree>
    <p:extLst>
      <p:ext uri="{BB962C8B-B14F-4D97-AF65-F5344CB8AC3E}">
        <p14:creationId xmlns:p14="http://schemas.microsoft.com/office/powerpoint/2010/main" val="164596835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0CCDD5-D536-4737-BCB1-332C88BD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Biểu diễn star-convex bằng K tia radial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6AF893-60BF-4DCB-8B52-81A3729D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572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>
            <a:def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C60E90-4C21-40E4-895B-EADF9687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3714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FFB871-3EB4-40BB-821E-32791D56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241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>
            <a:defPPr algn="ctr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Tâm q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ADC732-C299-458E-8F35-14A87466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24250"/>
            <a:ext cx="2419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500"/>
          </a:bodyPr>
          <a:lstStyle xmlns:a="http://schemas.openxmlformats.org/drawingml/2006/main">
            <a:defPPr algn="ctr">
              <a:defRPr sz="1500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K = 32 hướng đều nhau</a:t>
            </a:r>
          </a:p>
          <a:p xmlns:a="http://schemas.openxmlformats.org/drawingml/2006/main">
            <a:pPr algn="ctr">
              <a:defRPr sz="1500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θₖ = 2πk/K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E51634-1824-48BD-BE98-8455E28F5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510"/>
          </a:bodyPr>
          <a:lstStyle xmlns:a="http://schemas.openxmlformats.org/drawingml/2006/main">
            <a:defPPr algn="ctr">
              <a:defRPr sz="12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Mỗi tia đi đến giao điểm đầu tiên với biên của instance chứa q.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2EDEA3-ACCC-4834-B128-6AD698CD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619250"/>
            <a:ext cx="6362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DDC82A-BA91-4A39-B6A2-D1804E78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095500"/>
            <a:ext cx="586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rₖ(q) = max {t ≥ 0 : q + t(cos θₖ, sin θₖ) ∈ G(q)}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830F0F-0157-4259-B6EB-2BEBF411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33750"/>
            <a:ext cx="6362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2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293280-C1C6-4BB2-8A35-B191DEE9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810000"/>
            <a:ext cx="586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202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vₖ(q) = q + r̂ₖ(q)(cos θₖ, sin θₖ)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51DEFF-649D-437F-8111-ACC5E852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305300"/>
            <a:ext cx="586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>
            <a:defPPr algn="ctr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Nối các đỉnh v₀...vₖ theo thứ tự góc để tạo polygon proposal.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50C602-6FE4-48EC-9190-FF4F6E85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38750"/>
            <a:ext cx="1059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387"/>
          </a:bodyPr>
          <a:lstStyle xmlns:a="http://schemas.openxmlformats.org/drawingml/2006/main">
            <a:defPPr algn="ctr">
              <a:defRPr sz="1425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2410C"/>
                </a:solidFill>
                <a:latin typeface="Arial"/>
                <a:ea typeface="Arial"/>
                <a:cs typeface="Arial"/>
              </a:rPr>
              <a:t>Giới hạn: hình vòng, nhiều nhánh hoặc lõm sâu có thể không star-convex. Khi đó cần fine-tuning hoặc phương pháp khác.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BFCD53-9DFA-4E64-99B7-839CA736F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K lớn hơn mô tả biên tốt hơn nhưng tăng số kênh, bộ nhớ và số polygon cần xử lý.</a:t>
            </a:r>
          </a:p>
        </p:txBody>
      </p:sp>
    </p:spTree>
    <p:extLst>
      <p:ext uri="{BB962C8B-B14F-4D97-AF65-F5344CB8AC3E}">
        <p14:creationId xmlns:p14="http://schemas.microsoft.com/office/powerpoint/2010/main" val="133079986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D8388A-158E-4586-9917-468D3D5E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Huấn luyện đa nhiệm và phạm vi cài đặt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2E2CEA-211A-41DF-90B6-7224CC84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572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>
            <a:def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EBB9F2-1F96-4EE2-A31C-28F392FF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5143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B11C79-6111-4B9E-A9C3-2FBBA1055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000"/>
          </a:bodyPr>
          <a:lstStyle xmlns:a="http://schemas.openxmlformats.org/drawingml/2006/main">
            <a:defPPr algn="ctr"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Objective điển hình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8476D5-D1F5-4781-9F30-9926D0C7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4381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L_prob = BCE(p, p̂)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L_dist = Σ p(q) ||r(q) - r̂(q)||₁ / (Σ p(q) + 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L = λp L_prob + λr L_dist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BCD98D-7EF5-4435-A0DA-87B250655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62100"/>
            <a:ext cx="5143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2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97B04B-922A-4717-B4FE-063244AE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4785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000"/>
          </a:bodyPr>
          <a:lstStyle xmlns:a="http://schemas.openxmlformats.org/drawingml/2006/main">
            <a:defPPr algn="ctr">
              <a:defRPr sz="18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Phạm vi của nhóm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759270-E2A1-47FF-AD46-EE52C05F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0030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970"/>
          </a:bodyPr>
          <a:lstStyle xmlns:a="http://schemas.openxmlformats.org/drawingml/2006/main">
            <a:def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Tự cài: EDT chuẩn hoá, ray distance, polygon decode/NMS, matching và metric.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Tái sử dụng: CNN và pretrained weights từ StarDist chính thức.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Thí nghiệm chỉ inference, không train lại model.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3E45B9-D301-4849-9CC9-C33E53F2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625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24"/>
          </a:bodyPr>
          <a:lstStyle xmlns:a="http://schemas.openxmlformats.org/drawingml/2006/main">
            <a:def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Probability target là EDT chuẩn hoá theo từng instance: cao gần tâm, thấp gần biên, nên proposal tâm thường ổn định hơn.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99BA24-DC66-41B2-90D6-DE2D9EB2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Phân biệt rõ phần tự cài đặt và thư viện pretrained là yêu cầu trung thực học thuật.</a:t>
            </a:r>
          </a:p>
        </p:txBody>
      </p:sp>
    </p:spTree>
    <p:extLst>
      <p:ext uri="{BB962C8B-B14F-4D97-AF65-F5344CB8AC3E}">
        <p14:creationId xmlns:p14="http://schemas.microsoft.com/office/powerpoint/2010/main" val="125670395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21DA31-711B-45A5-B421-F7860390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Suy luận và Non-Maximum Suppression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A9F7FB-2801-4CCA-8E13-84A778A2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572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>
            <a:def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B2F836-6FB8-4EB9-9904-0A8327E4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5048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FA8DC1-30B5-4BAB-8D7D-857EB500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907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7A26FD-057E-4706-B5EC-DE0F87030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47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D23EEE-2497-49DA-A58F-31AA09FA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81175"/>
            <a:ext cx="413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>
            <a:def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Candidate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902D56-C4D8-4C63-AF6D-57CFB80F1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0"/>
            <a:ext cx="4133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Giữ pixel có p̂(q) ≥ t_p. Thí nghiệm dùng t_p = 0.479071.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FC8273-B39D-4BF3-A44F-3BB66A23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19250"/>
            <a:ext cx="5048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1C8792-10A9-4BC3-B489-88ACDCD4A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7907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560DFA-2BAD-4205-89A4-00CF95B4A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47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747522-66D8-4F3F-816B-D676DCA2B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781175"/>
            <a:ext cx="413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>
            <a:def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Decode polygon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26ED5E-9087-44BB-A2D1-4C05B5A1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095500"/>
            <a:ext cx="4133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Dùng r̂ₖ(q) tạo K đỉnh của proposal tại từng candidate.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5F12E9-6264-4045-B1D1-C0D6E58D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5048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7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03724E-7E50-4D8D-B312-D766ABD36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B7887E-7CEA-4C3C-BF98-65525247F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D28024-B6E3-42F7-B68A-44152BBB1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05175"/>
            <a:ext cx="413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>
            <a:def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Sort theo score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C05C88-1FEA-47C1-B331-7E76ED3A8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19500"/>
            <a:ext cx="4133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Xử lý proposal xác suất cao trước để ưu tiên tâm object đáng tin cậy.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902321-5E2A-4D60-A234-E1E8C3CE6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43250"/>
            <a:ext cx="5048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2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44D2CE-6E10-4F0C-B372-7407BB0B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147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8D9B78-615C-4EAD-9B42-594C4ABC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71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9DC5E7-678E-4DAA-AF6A-44F6FAC31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305175"/>
            <a:ext cx="413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>
            <a:def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NMS + rasterize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CDABB2-A1FA-402F-AE17-9C428EDA0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619500"/>
            <a:ext cx="4133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Loại overlap lớn hơn t_nms=0.3, giữ polygon còn lại thành Label Image.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0E0357-657C-45FB-BACB-BF6DE70D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Overlap NMS = |A ∩ B| / min(|A|, |B|). t_p thấp giữ thêm candidate, t_nms cao có thể giữ proposal trùng lặp.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293B34-BB49-4746-BDC1-51638F8D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NMS overlap khi inference khác với IoU threshold dùng để tính TP/FP/FN lúc đánh giá.</a:t>
            </a:r>
          </a:p>
        </p:txBody>
      </p:sp>
    </p:spTree>
    <p:extLst>
      <p:ext uri="{BB962C8B-B14F-4D97-AF65-F5344CB8AC3E}">
        <p14:creationId xmlns:p14="http://schemas.microsoft.com/office/powerpoint/2010/main" val="175188450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0DBDAC-69F8-446B-94B3-9EC1227F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Baseline 1: Otsu và connected components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91C0ED-71FF-4B28-B69E-55D6E209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572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>
            <a:def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C8BBAE-BA03-4CE4-BB6F-DCCA9748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9530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7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850C33-915E-4699-AE88-D341B84A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43150"/>
            <a:ext cx="4305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t* = argmaxₜ σ²_B(t)</a:t>
            </a:r>
          </a:p>
          <a:p xmlns:a="http://schemas.openxmlformats.org/drawingml/2006/main">
            <a:pPr algn="ctr">
              <a:defRPr sz="18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σ²_B(t) = ω₀(t)ω₁(t)[μ₀(t)-μ₁(t)]²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1754CB-922B-4365-8EFF-C20D1E7F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14700"/>
            <a:ext cx="4229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Otsu chọn ngưỡng tách histogram thành foreground/background. Sau đó morphology, lọc vùng nhỏ và connected components tạo label.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C1F123-AFBD-4496-9CEC-5FBD2245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19250"/>
            <a:ext cx="50863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384F02-0915-48B7-9450-29348F14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81200"/>
            <a:ext cx="455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>
            <a:defPPr algn="ctr">
              <a:defRPr sz="172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Điểm mạnh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6CA1D3-F601-4486-8916-F90C6E628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193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Nhanh, không cần model, dễ giải thích.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CFB087-888B-4DBF-AC0F-2AFEFCE1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162300"/>
            <a:ext cx="455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>
            <a:defPPr algn="ctr">
              <a:defRPr sz="1725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C2410C"/>
                </a:solidFill>
                <a:latin typeface="Arial"/>
                <a:ea typeface="Arial"/>
                <a:cs typeface="Arial"/>
              </a:rPr>
              <a:t>Giới hạn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5B1357-5A1D-4822-A056-62F5ECB33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00450"/>
            <a:ext cx="4400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2456"/>
          </a:bodyPr>
          <a:lstStyle xmlns:a="http://schemas.openxmlformats.org/drawingml/2006/main">
            <a:def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Nền không đồng nhất làm histogram không bimodal. Object chạm nhau trở thành một component nên count/AP instance kém.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F05B1B-600F-47AE-B5D2-9FBF0D1E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81600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Otsu có thể đạt Dice foreground khá cao nhưng vẫn gộp nhiều nhân và làm sai số đếm lớn.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223D41-4D93-4AF5-847A-9CB0B81D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Implementation: src/xla_gr03/baselines.py.</a:t>
            </a:r>
          </a:p>
        </p:txBody>
      </p:sp>
    </p:spTree>
    <p:extLst>
      <p:ext uri="{BB962C8B-B14F-4D97-AF65-F5344CB8AC3E}">
        <p14:creationId xmlns:p14="http://schemas.microsoft.com/office/powerpoint/2010/main" val="28414755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8BC04C-51FF-496D-95F7-BD984C39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Baseline 2: marker-controlled Watershed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7827CF-53B7-45B9-B627-8D99D2AB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572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>
            <a:def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E93DFE-1077-4412-9F02-D2557281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9431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7AC13C-AB8A-4AB5-8193-668A4CE2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>
            <a:def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E7E926-CF4C-438C-BD2B-A43D2789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288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>
            <a:def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Foreground mask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BB5426-CFEE-4794-B437-FD0FF8EA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>
            <a:def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Otsu + morphology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0A3E41-CCD7-4D23-98CE-7DF8B211A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238375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6719"/>
          </a:bodyPr>
          <a:lstStyle xmlns:a="http://schemas.openxmlformats.org/drawingml/2006/main">
            <a:defPPr algn="ctr">
              <a:defRPr sz="172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8CAE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8F811A-9CFA-4586-95FD-86C2F4DB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619250"/>
            <a:ext cx="19431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9E2D66-8AAE-4497-B884-40D0730C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7907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>
            <a:def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D9EFDA-C0DC-4129-A199-A491AF16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2288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>
            <a:def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EDT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2A2312-54D5-4B61-8A99-68AC86C5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60985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>
            <a:def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D = EDT(F)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313B0C-5514-4DB9-9F38-F97890CE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38375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6719"/>
          </a:bodyPr>
          <a:lstStyle xmlns:a="http://schemas.openxmlformats.org/drawingml/2006/main">
            <a:defPPr algn="ctr">
              <a:defRPr sz="172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8CAE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E52A56-5175-4A55-B001-F2EB827A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619250"/>
            <a:ext cx="19431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3D0BD7-6716-497D-A027-A21AEBB7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7907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>
            <a:def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7AD7B3-5A51-408C-84FA-04153647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288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>
            <a:def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Markers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F6C0D1-9BBF-428B-AB11-591BB727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60985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>
            <a:def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local maxima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3E5B3E-F9D7-4CF8-9E78-2F264EB8C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238375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6719"/>
          </a:bodyPr>
          <a:lstStyle xmlns:a="http://schemas.openxmlformats.org/drawingml/2006/main">
            <a:defPPr algn="ctr">
              <a:defRPr sz="172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8CAE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6099EC-3D22-4691-86D6-0F370E75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619250"/>
            <a:ext cx="19431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2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E8BC9F-7907-402C-9E13-3350EC888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7907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>
            <a:def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AA833C-E04A-44B9-9A76-F93CD23B9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288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>
            <a:def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Watershed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32B07C-4AFB-4364-B65F-8D12ED12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60985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>
            <a:def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trên -D trong 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8E5EA7-5439-4975-B116-74E0D23BA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238375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6719"/>
          </a:bodyPr>
          <a:lstStyle xmlns:a="http://schemas.openxmlformats.org/drawingml/2006/main">
            <a:defPPr algn="ctr">
              <a:defRPr sz="172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8CAE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E0BD4C-E15A-4A60-993A-6B8AA2C9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619250"/>
            <a:ext cx="19431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5B2FFC-E25A-462F-83D8-ADDE72C21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7907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>
            <a:def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5409E0-6313-4790-B3D6-FFD30E1B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2288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>
            <a:def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Relabel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735FDB-737A-4EA5-93BD-1E1942E9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0985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>
            <a:def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instance TIFF</a:t>
            </a:r>
          </a:p>
        </p:txBody>
      </p:sp>
      <p:graphicFrame>
        <p:nvGraphicFramePr>
          <p:cNvPr id="27" name="Chart">
            <a:extLst xmlns:a="http://schemas.openxmlformats.org/drawingml/2006/main">
              <a:ext uri="{FF2B5EF4-FFF2-40B4-BE49-F238E27FC236}">
                <a16:creationId xmlns:a16="http://schemas.microsoft.com/office/drawing/2014/main" id="{AB64F82E-B1F7-43E2-A247-7961581B8E3D}"/>
              </a:ext>
            </a:extLst>
          </p:cNvPr>
          <p:cNvGraphicFramePr/>
          <p:nvPr/>
        </p:nvGraphicFramePr>
        <p:xfrm>
          <a:off xmlns:a="http://schemas.openxmlformats.org/drawingml/2006/main" x="1066800" y="3524250"/>
          <a:ext xmlns:a="http://schemas.openxmlformats.org/drawingml/2006/main" cx="6096000" cy="2047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05abdae32594510"/>
          </a:graphicData>
        </a:graphic>
      </p:graphicFrame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1924E3-2D7B-4CC9-AD1A-79891DB6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57600"/>
            <a:ext cx="32194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7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F5C664-4626-47A6-BAEA-03ACA585D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9433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>
            <a:defPPr algn="ctr">
              <a:defRPr sz="17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Chọn min_distance = 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9AB6E5-235A-4269-8D93-34C8A087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577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075"/>
          </a:bodyPr>
          <a:lstStyle xmlns:a="http://schemas.openxmlformats.org/drawingml/2006/main">
            <a:defPPr algn="ctr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N=30 ảnh validation. Không chọn tham số trên 50 test images.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D69111-E544-4DEC-B1B6-6638EC5D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Watershed cải thiện tách blob chạm nhau, nhưng nhạy marker, nhiễu và khoảng cách cực đại.</a:t>
            </a:r>
          </a:p>
        </p:txBody>
      </p:sp>
    </p:spTree>
    <p:extLst>
      <p:ext uri="{BB962C8B-B14F-4D97-AF65-F5344CB8AC3E}">
        <p14:creationId xmlns:p14="http://schemas.microsoft.com/office/powerpoint/2010/main" val="156463930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552B44-5D66-4738-925B-93F789D1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Đánh giá instance: IoU, Hungarian matching, TP/FP/FN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4AB5A1-FF53-4A95-AC1E-2C0ECCDE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572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>
            <a:def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6996C1-E221-47C2-BD7E-287C7FF7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5048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8A548A-966B-44A1-AD8D-EA99D23D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335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B2207D-B592-4025-A1EE-EFC304B3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90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1B7571-DCDD-48B5-AB49-AA4F4342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24025"/>
            <a:ext cx="413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>
            <a:def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Bỏ nền ID=0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86AFB3-4288-48AA-B28C-90FFD7B03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38350"/>
            <a:ext cx="4133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Lấy mỗi GT Gᵢ và prediction Pⱼ là một object.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6B90CC-798A-4FB7-AFA5-8272F449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562100"/>
            <a:ext cx="5048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8E2ABE-F558-451E-B394-76590E54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7335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E4D0A2-31DE-4B5C-9289-C6DDE440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790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D5C06E-E3B8-41EA-AE13-724AD010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724025"/>
            <a:ext cx="413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>
            <a:def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Ma trận IoU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14F4C8-84C2-4FC8-B860-DCA8DAD3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038350"/>
            <a:ext cx="4133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Jᵢⱼ = |Gᵢ ∩ Pⱼ| / |Gᵢ ∪ Pⱼ| cho mọi cặp object.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83DE8C-1DEA-4954-94B1-7C2E352E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5048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2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001681-ADB2-46B3-A69E-C8FB275C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D19B79-7EF8-46F4-AC3A-B6543513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C473D6-E956-4FAE-86EB-AD281F70D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48025"/>
            <a:ext cx="413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>
            <a:def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Ghép một-một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9F0D90-FFEA-4D6F-9BB0-29554E0F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62350"/>
            <a:ext cx="4133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Ưu tiên số cặp đạt ngưỡng, rồi tổng IoU. Mỗi object chỉ ghép một lần.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00C56B-DDBD-4D99-9DD9-83385BBD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86100"/>
            <a:ext cx="5048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7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D9B2F4-C6AB-4D08-AF25-3C904BDAE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575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22F440-5B0A-4975-95FE-5465C63A2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14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723AA6-F310-43FB-BE7F-C3D7FE87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48025"/>
            <a:ext cx="413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>
            <a:def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Phân loại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75C93E-4B0B-4344-A63E-DD6BBA7F4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562350"/>
            <a:ext cx="4133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Cặp có Jᵢⱼ ≥ τ là TP. GT chưa ghép là FN, prediction chưa ghép là FP.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74E7F6-3429-4528-9BC9-9B64A587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959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539"/>
          </a:bodyPr>
          <a:lstStyle xmlns:a="http://schemas.openxmlformats.org/drawingml/2006/main">
            <a:def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Một prediction gộp hai nhân chỉ ghép được tối đa một GT. Nhân còn lại trở thành FN, nên metric phản ánh lỗi merge/split.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4C1E60-BE98-462C-B0D9-88C2F590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Ngưỡng τ được báo cáo tại 0.50, 0.75 và 0.90.</a:t>
            </a:r>
          </a:p>
        </p:txBody>
      </p:sp>
    </p:spTree>
    <p:extLst>
      <p:ext uri="{BB962C8B-B14F-4D97-AF65-F5344CB8AC3E}">
        <p14:creationId xmlns:p14="http://schemas.microsoft.com/office/powerpoint/2010/main" val="60210198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F6F279-2F9B-4908-B348-ADFDA396F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Metric định lượng và cách đọc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997E8D-DF20-43C1-AF8C-2C75A1D1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572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>
            <a:def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E88A95-13E2-49D6-9B15-30F1E849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321945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6946F9-5AD9-46F4-A205-7A929EBC1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812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>
            <a:defPPr algn="ctr"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APτ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64B9D8-4ED9-454C-8FAB-856291F3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260985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APτ = TP / (TP + FP + FN).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Đo khả năng phát hiện instance đúng ở IoU τ.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A4CF47-5D32-4297-94C4-C93BA1BE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1790700"/>
            <a:ext cx="321945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2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9D9A7D-77E5-4EBE-8297-DB5942928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9812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>
            <a:defPPr algn="ctr">
              <a:defRPr sz="18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PQτ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75925C-B6A5-4B6D-B1F8-7060B5D8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457450"/>
            <a:ext cx="260985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PQτ = ΣIoU(TP) / [TP + 0.5FP + 0.5FN].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Kết hợp detection và chất lượng mask.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C022FA-B537-4458-BB10-A68F364B1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90700"/>
            <a:ext cx="321945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7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C55237-F423-4B8D-AD09-13CE7F0BD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9812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>
            <a:defPPr algn="ctr">
              <a:defRPr sz="18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Dice + MAE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363816-E387-4D5E-92A0-FB15636CC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57450"/>
            <a:ext cx="260985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Dice đo foreground gộp.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MAE = |N_pred - N_GT| đo sai số đếm. Không thay thế AP/PQ.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1015BB-8E03-4463-9696-5C23AD09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1074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582"/>
          </a:bodyPr>
          <a:lstStyle xmlns:a="http://schemas.openxmlformats.org/drawingml/2006/main">
            <a:def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AP@0.90 khắt khe về biên hơn AP@0.50. Vì vậy không kết luận chất lượng instance chỉ từ một ngưỡng hoặc chỉ từ Dice.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8F43E3-B6B5-4444-83AC-607750AA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Mọi metric tính từng ảnh rồi báo cáo mean ± SD trong đúng stratum n=50 hoặc n=3.</a:t>
            </a:r>
          </a:p>
        </p:txBody>
      </p:sp>
    </p:spTree>
    <p:extLst>
      <p:ext uri="{BB962C8B-B14F-4D97-AF65-F5344CB8AC3E}">
        <p14:creationId xmlns:p14="http://schemas.microsoft.com/office/powerpoint/2010/main" val="93642741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9B02A0-3945-4B1A-A95A-C0076E09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ImageJ, Fiji và plugin StarDist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00A47D-AC0E-4FEA-BEAC-2796F7C3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985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>
            <a:def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Fiji là nền tảng tham chiếu trực quan và kiểm chứng, không thay thế evaluator định lượng.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04819C-991A-4E24-A607-2FE159C7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572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>
            <a:def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DF0D62-2241-4515-893B-ACB10AED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321945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E792EF-02A3-4045-BC9C-61EAB441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812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>
            <a:defPPr algn="ctr"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ImageJ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6DAE9C-0C86-4EC3-B1FB-779C8F9D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260985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Nền tảng xử lý ảnh: ImagePlus, ROI Manager, Macro Recorder và hệ plugin.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0CF6BE-3FCC-4AD9-A85D-999DF10DB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1790700"/>
            <a:ext cx="321945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2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F1D385-73A0-4D78-AB8C-1482F645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9812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>
            <a:defPPr algn="ctr">
              <a:defRPr sz="18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Fiji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3D69E2-34E1-45B2-8E91-AB2D0095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457450"/>
            <a:ext cx="260985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Bản phân phối ImageJ cho khoa học, có cơ chế update site và nhiều plugin sinh học.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155C3F-0821-4608-94EC-16862761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90700"/>
            <a:ext cx="321945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7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048305-C338-4A3A-852A-13713D0F7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9812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>
            <a:defPPr algn="ctr">
              <a:defRPr sz="18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StarDist plugin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0DCED0-D6F1-46C8-9964-0076A08F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57450"/>
            <a:ext cx="260985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Inference model 2D pretrained/custom, normalization, threshold, tile và output Label Image/ROI.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385B2A-B9ED-45D8-AA3A-C035B0A6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1059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369"/>
          </a:bodyPr>
          <a:lstStyle xmlns:a="http://schemas.openxmlformats.org/drawingml/2006/main">
            <a:defPPr algn="ctr"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Artifact dùng trong kiểm chứng: de.csbdresden:StarDist_:0.3.0-scijava | ImageJ 2.9.0 + legacy 1.53t | Java 8 | TensorFlow 1.12 CPU.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61EBA4-C540-488E-946E-630F61BA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ROI Manager hữu ích để quan sát; Label Image TIFF mới là đầu vào chuẩn để tính metric.</a:t>
            </a:r>
          </a:p>
        </p:txBody>
      </p:sp>
    </p:spTree>
    <p:extLst>
      <p:ext uri="{BB962C8B-B14F-4D97-AF65-F5344CB8AC3E}">
        <p14:creationId xmlns:p14="http://schemas.microsoft.com/office/powerpoint/2010/main" val="94455125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249C69-99A6-4E48-9FEF-E66F4D92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Fiji/ImageJ: cài plugin và kiểm tra ảnh đầu vào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B5776B-8B1D-41E9-B5C6-025E99D6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572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>
            <a:def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B12067-3BBD-462A-BD55-C95AD40A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048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53EDD4-C3A7-4E64-A25F-7706300D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383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2B6F65-2AC2-47A9-A4ED-14AD6C055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775B2D-824E-4443-9EA5-2840BFAB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28775"/>
            <a:ext cx="413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>
            <a:def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Cài Fiji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C2A9B7-4274-4B43-B28C-5499FE8FD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43100"/>
            <a:ext cx="4133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Dùng bản stable. Mở Help &gt; About Fiji và lưu phiên bản.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58F78E-7B1E-40EB-A992-D98B17D45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466850"/>
            <a:ext cx="5048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2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B71303-CCAE-41FF-B0E6-CDB1C4FF7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6383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E909C7-DB5E-40CE-BEAE-1328EA29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6954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B79C09-604A-4AD1-9BB2-F2594F21D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628775"/>
            <a:ext cx="413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>
            <a:def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Bật update site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923891-30DD-4BFA-A7E3-5210868E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943100"/>
            <a:ext cx="4133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Help &gt; Update... &gt; Manage update sites. Bật CSBDeep, StarDist, TensorFlow. Apply changes rồi restart.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4B5910-C75A-421E-826C-970C50076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5048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9C7979-916A-4FF8-BC2B-3CF6294B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B57DE2-96E8-457C-B859-A9488AD8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95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8C0323-63A2-4B3C-83AB-6BEF49A3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28975"/>
            <a:ext cx="413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>
            <a:def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Mở TIFF 2D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AA1625-D85C-4E4B-B26B-57C5F2B14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43300"/>
            <a:ext cx="4133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File &gt; Open. Giữ nguyên kích thước và pixel scale, không resize một phía.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B4013D-4AFF-457A-92B1-2A5834946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67050"/>
            <a:ext cx="5048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7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773C59-CC48-4D37-8B28-0F8F195A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385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31884B-2AE8-41E3-92F9-ECBA1AC4D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95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17D5AF-8F64-4346-8051-39838FB2C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28975"/>
            <a:ext cx="413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>
            <a:def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Kiểm tra metadata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7AC649-3CC2-46EC-A44F-1BE3EFF8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543300"/>
            <a:ext cx="4133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Image &gt; Show Info...: file name, width, height, bit depth, channel. Lưu thông tin vào run log.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343964-605C-46F6-8921-A5F2545C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1074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966"/>
          </a:bodyPr>
          <a:lstStyle xmlns:a="http://schemas.openxmlformats.org/drawingml/2006/main">
            <a:def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Chỉ bắt đầu inference khi input TIFF, ground truth và quy ước pixel đã thống nhất. Screenshot không phải dữ liệu định lượng.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218F03-A846-4A3A-910C-1757D7DB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Quy trình thao tác đầy đủ: fiji/workflows/stardist_fiji_protocol.md.</a:t>
            </a:r>
          </a:p>
        </p:txBody>
      </p:sp>
    </p:spTree>
    <p:extLst>
      <p:ext uri="{BB962C8B-B14F-4D97-AF65-F5344CB8AC3E}">
        <p14:creationId xmlns:p14="http://schemas.microsoft.com/office/powerpoint/2010/main" val="83251033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9F2511-BF42-40F3-9247-6EE7F445B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Fiji/ImageJ: chạy StarDist 2D và lưu Label Image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280FAD-A269-4A16-AC0C-F2DADECA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572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>
            <a:def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948135-5675-4C6A-92EA-9A63504B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>
            <a:defPPr algn="ctr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Plugins &gt; StarDist &gt; StarDist 2D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07C943-6FF3-4463-96AD-C684FA6E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1082040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00451F-541C-474C-BEE5-F2215DE3E7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bc20a3999a4d4b"/>
          <a:stretch xmlns:a="http://schemas.openxmlformats.org/drawingml/2006/main"/>
        </p:blipFill>
        <p:spPr>
          <a:xfrm xmlns:a="http://schemas.openxmlformats.org/drawingml/2006/main">
            <a:off x="2819042" y="1695450"/>
            <a:ext cx="6553915" cy="36576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536231-222E-4A36-B286-B6648263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38800"/>
            <a:ext cx="1070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378"/>
          </a:bodyPr>
          <a:lstStyle xmlns:a="http://schemas.openxmlformats.org/drawingml/2006/main">
            <a:defPPr algn="ctr"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Model: Versatile (fluorescent nuclei) | percentile 1/99.8 | probability 0.479071 | NMS 0.3 | tiles 1 | exclude boundary 2 px | chọn Output: Label Image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B53D1A-2ED8-4555-84AC-35AA49B50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Sau khi label xuất hiện: kiểm tra cùng kích thước với input/GT, quan sát overlay, Save As TIFF không nén và ghi runtime.</a:t>
            </a:r>
          </a:p>
        </p:txBody>
      </p:sp>
    </p:spTree>
    <p:extLst>
      <p:ext uri="{BB962C8B-B14F-4D97-AF65-F5344CB8AC3E}">
        <p14:creationId xmlns:p14="http://schemas.microsoft.com/office/powerpoint/2010/main" val="183863495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FE4E57-35AE-4755-B0BF-F55F84C3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Fiji/ImageJ: kiểm chứng bằng chính Label TIFF plugin xuất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20D4CA-7608-4A1F-9AB7-F453DC0F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572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>
            <a:def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F907F5-9A41-48C1-848D-A378A0DE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76200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CA1312-F9CB-4DF9-921B-B5C78FEC40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e6ae878d774fe9"/>
          <a:stretch xmlns:a="http://schemas.openxmlformats.org/drawingml/2006/main"/>
        </p:blipFill>
        <p:spPr>
          <a:xfrm xmlns:a="http://schemas.openxmlformats.org/drawingml/2006/main">
            <a:off x="2550926" y="1466850"/>
            <a:ext cx="3889749" cy="3714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5465B7-DA08-45A1-8A61-2D2BD7A74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371600"/>
            <a:ext cx="28765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2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A8594F-A340-472F-BE06-7ED1FDA57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76400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>
            <a:defPPr algn="ctr">
              <a:defRPr sz="16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Quy trình đối chiếu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1A091D-A2E9-4570-A40D-4505E398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190750"/>
            <a:ext cx="226695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703"/>
          </a:bodyPr>
          <a:lstStyle xmlns:a="http://schemas.openxmlformats.org/drawingml/2006/main">
            <a:defPPr algn="ctr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1. Lưu Label Image TIFF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2. Python đọc trực tiếp TIFF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3. Hungarian matching với ground truth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4. Xuất TP, FP, FN, AP, PQ, Dice, MAE, runtime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1AEF82-B553-44F5-A1CE-27DDD8C78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43400"/>
            <a:ext cx="2419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062"/>
          </a:bodyPr>
          <a:lstStyle xmlns:a="http://schemas.openxmlformats.org/drawingml/2006/main">
            <a:defPPr algn="ctr"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n = 3 fixed cases</a:t>
            </a:r>
          </a:p>
          <a:p xmlns:a="http://schemas.openxmlformats.org/drawingml/2006/main">
            <a:pPr algn="ctr"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AP@.50 = .801 ± .244</a:t>
            </a:r>
          </a:p>
          <a:p xmlns:a="http://schemas.openxmlformats.org/drawingml/2006/main">
            <a:pPr algn="ctr"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PQ@.50 = .788 ± .160</a:t>
            </a:r>
          </a:p>
          <a:p xmlns:a="http://schemas.openxmlformats.org/drawingml/2006/main">
            <a:pPr algn="ctr"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Dice = .950 ± .017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F05EAC-E210-4E89-B63D-6F776CD9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43550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2410C"/>
                </a:solidFill>
                <a:latin typeface="Arial"/>
                <a:ea typeface="Arial"/>
                <a:cs typeface="Arial"/>
              </a:rPr>
              <a:t>Không gộp số liệu này với benchmark n=50. Mục tiêu là kiểm tra workflow cross-platform.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ACC2C1-0241-464D-A026-126C9C7A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Evidence: results/fiji_labels/, results/fiji_reference/per_image_metrics.csv, fiji/run_log_dsb2018_reference.csv.</a:t>
            </a:r>
          </a:p>
        </p:txBody>
      </p:sp>
    </p:spTree>
    <p:extLst>
      <p:ext uri="{BB962C8B-B14F-4D97-AF65-F5344CB8AC3E}">
        <p14:creationId xmlns:p14="http://schemas.microsoft.com/office/powerpoint/2010/main" val="834776027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D2CF3D-D5F5-46CD-94AF-ED160B49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Cài đặt Python: kiến trúc package xla_gr03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DA0D7B-905B-4BDF-AF48-9C91598C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572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>
            <a:def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D47C23-3C9B-4987-9084-DA522935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95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426FD7-C517-4561-BD75-A44DA5A4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81150"/>
            <a:ext cx="4533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167"/>
          </a:bodyPr>
          <a:lstStyle xmlns:a="http://schemas.openxmlformats.org/drawingml/2006/main">
            <a:def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preprocessing.py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596547-616F-4777-9518-4AE63A8E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14525"/>
            <a:ext cx="453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>
            <a:def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grayscale + percentile normalize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F53FE0-DA69-42F2-B55B-2D910756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28750"/>
            <a:ext cx="495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7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4E3D25-81CA-4BFC-A759-9FDE874A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581150"/>
            <a:ext cx="4533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167"/>
          </a:bodyPr>
          <a:lstStyle xmlns:a="http://schemas.openxmlformats.org/drawingml/2006/main">
            <a:def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baselines.py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C61CA5-E2EB-47EE-A3F0-E2CA53A7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14525"/>
            <a:ext cx="453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>
            <a:def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Otsu, morphology, EDT, Watershed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ADD041-6A1B-4CA5-B849-E0377DA2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495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2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7A8B01-C2DF-4F79-972E-7DC84AFF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0350"/>
            <a:ext cx="4533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167"/>
          </a:bodyPr>
          <a:lstStyle xmlns:a="http://schemas.openxmlformats.org/drawingml/2006/main">
            <a:def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geometry.py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B4EDE8-CAE2-4B20-A4AE-A5402A66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33725"/>
            <a:ext cx="453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>
            <a:def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EDT target, ray, polygon decode, NMS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A75B4F-4DD4-447B-8907-CE794B081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47950"/>
            <a:ext cx="495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6B5CA8-72F8-4494-92DE-DE548D59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00350"/>
            <a:ext cx="4533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167"/>
          </a:bodyPr>
          <a:lstStyle xmlns:a="http://schemas.openxmlformats.org/drawingml/2006/main">
            <a:def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metrics.py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CA152A-3F6E-47D9-8E93-6E54CCA70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33725"/>
            <a:ext cx="453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>
            <a:def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IoU matrix, Hungarian, AP/PQ/Dice/MAE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ADFFC3-D7C5-46CC-B3DA-1D73A5FA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495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C2937E-B11F-4B47-9685-98FDA90B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9550"/>
            <a:ext cx="4533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167"/>
          </a:bodyPr>
          <a:lstStyle xmlns:a="http://schemas.openxmlformats.org/drawingml/2006/main">
            <a:def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stardist_pipeline.py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B862FF-A239-41DD-A9C2-9DED99DC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52925"/>
            <a:ext cx="453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>
            <a:def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wrapper model 2D_versatile_fluo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B9454D-2AB2-4D68-A38E-75F2C274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67150"/>
            <a:ext cx="495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7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52B893-1509-4B4A-96A0-9C12A5E4D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19550"/>
            <a:ext cx="4533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167"/>
          </a:bodyPr>
          <a:lstStyle xmlns:a="http://schemas.openxmlformats.org/drawingml/2006/main">
            <a:def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io.py + cli.py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7F7D16-2174-4184-876C-49D5EFA0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52925"/>
            <a:ext cx="453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>
            <a:def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TIFF labels, segment/evaluate commands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F1D088-2BE0-495D-B9FB-3AD96DCC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86375"/>
            <a:ext cx="10782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Chuẩn giao tiếp chung: mọi phương pháp trả Label TIFF integer 2D, sau đó đi qua cùng evaluator instance.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FA6C4C-628E-426D-AA91-29F39F708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Source: src/xla_gr03/ | Test bao phủ geometry, preprocessing, I/O, baseline và metric.</a:t>
            </a:r>
          </a:p>
        </p:txBody>
      </p:sp>
    </p:spTree>
    <p:extLst>
      <p:ext uri="{BB962C8B-B14F-4D97-AF65-F5344CB8AC3E}">
        <p14:creationId xmlns:p14="http://schemas.microsoft.com/office/powerpoint/2010/main" val="1195966005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BC286B-EDC0-44F3-85CB-1730385A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Python: chạy pipeline và kiểm thử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E65502-F94E-4417-A019-EA0104449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572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>
            <a:def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78F089-DBCE-456D-849B-CD52EB251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>
            <a:defPPr algn="l"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1. Tạo môi trường và cài dependency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53ED4C-115D-4761-8176-B9105A8D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51244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902A5D-38B1-4272-83D0-5EA10D51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57400"/>
            <a:ext cx="4705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E6F2FF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E6F2FF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E6F2FF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E6F2FF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E6F2FF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E6F2FF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E6F2FF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E6F2FF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E6F2FF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E6F2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E6F2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6F2FF"/>
                </a:solidFill>
                <a:latin typeface="Arial"/>
                <a:ea typeface="Arial"/>
                <a:cs typeface="Arial"/>
              </a:rPr>
              <a:t>python -m venv .venv</a:t>
            </a:r>
          </a:p>
          <a:p xmlns:a="http://schemas.openxmlformats.org/drawingml/2006/main">
            <a:pPr algn="l">
              <a:defRPr sz="1275" b="0">
                <a:solidFill>
                  <a:srgbClr val="E6F2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6F2FF"/>
                </a:solidFill>
                <a:latin typeface="Arial"/>
                <a:ea typeface="Arial"/>
                <a:cs typeface="Arial"/>
              </a:rPr>
              <a:t>python -m pip install -r requirements-model.txt</a:t>
            </a:r>
          </a:p>
          <a:p xmlns:a="http://schemas.openxmlformats.org/drawingml/2006/main">
            <a:pPr algn="l">
              <a:defRPr sz="1275" b="0">
                <a:solidFill>
                  <a:srgbClr val="E6F2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6F2FF"/>
                </a:solidFill>
                <a:latin typeface="Arial"/>
                <a:ea typeface="Arial"/>
                <a:cs typeface="Arial"/>
              </a:rPr>
              <a:t>python -m pip install -e ".[dev]"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B2BB33-EF5C-48A3-8B09-3D03221D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668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>
            <a:defPPr algn="l"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2. Phân đoạn và đánh giá một ảnh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4376D3-5722-4AB4-8A6D-E239375D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85950"/>
            <a:ext cx="51244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EF49A5-BE3B-4319-978C-8CCB67EE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57400"/>
            <a:ext cx="4705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E6F2FF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E6F2FF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E6F2FF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E6F2FF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E6F2FF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E6F2FF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E6F2FF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E6F2FF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E6F2FF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E6F2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E6F2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6F2FF"/>
                </a:solidFill>
                <a:latin typeface="Arial"/>
                <a:ea typeface="Arial"/>
                <a:cs typeface="Arial"/>
              </a:rPr>
              <a:t>xla-gr03 segment input.tif output.tif --method otsu</a:t>
            </a:r>
          </a:p>
          <a:p xmlns:a="http://schemas.openxmlformats.org/drawingml/2006/main">
            <a:pPr algn="l">
              <a:defRPr sz="1275" b="0">
                <a:solidFill>
                  <a:srgbClr val="E6F2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6F2FF"/>
                </a:solidFill>
                <a:latin typeface="Arial"/>
                <a:ea typeface="Arial"/>
                <a:cs typeface="Arial"/>
              </a:rPr>
              <a:t>xla-gr03 evaluate ground_truth.tif output.tif --thresholds 0.5 0.75 0.9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3A9063-01C1-4EC9-BE22-CF23A5A02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>
            <a:defPPr algn="l"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3. Sinh benchmark và bằng chứng Fiji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130158-58C6-451D-9742-82D9B25B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51244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408373-2726-408D-9B5C-76200433D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76700"/>
            <a:ext cx="47053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E6F2FF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E6F2FF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E6F2FF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E6F2FF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E6F2FF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E6F2FF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E6F2FF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E6F2FF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E6F2FF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E6F2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E6F2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6F2FF"/>
                </a:solidFill>
                <a:latin typeface="Arial"/>
                <a:ea typeface="Arial"/>
                <a:cs typeface="Arial"/>
              </a:rPr>
              <a:t>python scripts/run_dsb2018_benchmark.py</a:t>
            </a:r>
          </a:p>
          <a:p xmlns:a="http://schemas.openxmlformats.org/drawingml/2006/main">
            <a:pPr algn="l">
              <a:defRPr sz="1275" b="0">
                <a:solidFill>
                  <a:srgbClr val="E6F2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6F2FF"/>
                </a:solidFill>
                <a:latin typeface="Arial"/>
                <a:ea typeface="Arial"/>
                <a:cs typeface="Arial"/>
              </a:rPr>
              <a:t>python scripts/evaluate_fiji_reference.py</a:t>
            </a:r>
          </a:p>
          <a:p xmlns:a="http://schemas.openxmlformats.org/drawingml/2006/main">
            <a:pPr algn="l">
              <a:defRPr sz="1275" b="0">
                <a:solidFill>
                  <a:srgbClr val="E6F2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6F2FF"/>
                </a:solidFill>
                <a:latin typeface="Arial"/>
                <a:ea typeface="Arial"/>
                <a:cs typeface="Arial"/>
              </a:rPr>
              <a:t>python scripts/build_fiji_workflow_evidence.py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5FA02F-B2EB-46E8-A0C7-453EBAEA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861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>
            <a:defPPr algn="l"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4. Kiểm thử chất lượng mã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CC775D-1386-48E1-B830-4C14871FC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05250"/>
            <a:ext cx="51244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42CF77-7874-4A8D-BF46-61E7FFBA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76700"/>
            <a:ext cx="47053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E6F2FF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E6F2FF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E6F2FF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E6F2FF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E6F2FF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E6F2FF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E6F2FF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E6F2FF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E6F2FF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E6F2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E6F2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6F2FF"/>
                </a:solidFill>
                <a:latin typeface="Arial"/>
                <a:ea typeface="Arial"/>
                <a:cs typeface="Arial"/>
              </a:rPr>
              <a:t>.venv\Scripts\python.exe -m pytest -q</a:t>
            </a:r>
          </a:p>
          <a:p xmlns:a="http://schemas.openxmlformats.org/drawingml/2006/main">
            <a:pPr algn="l">
              <a:defRPr sz="1275" b="0">
                <a:solidFill>
                  <a:srgbClr val="E6F2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6F2FF"/>
                </a:solidFill>
                <a:latin typeface="Arial"/>
                <a:ea typeface="Arial"/>
                <a:cs typeface="Arial"/>
              </a:rPr>
              <a:t>.venv\Scripts\ruff.exe check src tests scripts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6F2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6F2FF"/>
                </a:solidFill>
                <a:latin typeface="Arial"/>
                <a:ea typeface="Arial"/>
                <a:cs typeface="Arial"/>
              </a:rPr>
              <a:t>pytest -m integration  # model thật + thư viện chuẩn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D2B241-EC72-4868-A1A7-4ECB47E8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Code, CSV, TIFF labels, provenance và figure được lưu dưới results/ để tái lập.</a:t>
            </a:r>
          </a:p>
        </p:txBody>
      </p:sp>
    </p:spTree>
    <p:extLst>
      <p:ext uri="{BB962C8B-B14F-4D97-AF65-F5344CB8AC3E}">
        <p14:creationId xmlns:p14="http://schemas.microsoft.com/office/powerpoint/2010/main" val="1776359485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343F32-D857-4C0C-8B41-4B1DF4EE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Kết quả định lượng: benchmark DSB2018 n=50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1217A6-67EC-4C64-9DCD-CB6F5E1C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985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>
            <a:def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Ba phương pháp chạy trên cùng test split. Fiji n=3 không xuất hiện trong biểu đồ này.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7B1717-634F-4DA0-9EAD-650B29FC7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572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>
            <a:def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1A8719F4-FA60-4574-A0BE-7F28EEE3A18C}"/>
              </a:ext>
            </a:extLst>
          </p:cNvPr>
          <p:cNvGraphicFramePr/>
          <p:nvPr/>
        </p:nvGraphicFramePr>
        <p:xfrm>
          <a:off xmlns:a="http://schemas.openxmlformats.org/drawingml/2006/main" x="685800" y="1476375"/>
          <a:ext xmlns:a="http://schemas.openxmlformats.org/drawingml/2006/main" cx="6362700" cy="3638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8c4a14bfe50462d"/>
          </a:graphicData>
        </a:graphic>
      </p:graphicFrame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41CF70-8DE7-4BB8-944C-3D0B0FCB0183}"/>
              </a:ext>
            </a:extLst>
          </p:cNvPr>
          <p:cNvGraphicFramePr/>
          <p:nvPr/>
        </p:nvGraphicFramePr>
        <p:xfrm>
          <a:off xmlns:a="http://schemas.openxmlformats.org/drawingml/2006/main" x="7467600" y="1676400"/>
          <a:ext xmlns:a="http://schemas.openxmlformats.org/drawingml/2006/main" cx="4038600" cy="262890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466850"/>
                <a:gridCol w="742950"/>
                <a:gridCol w="723900"/>
                <a:gridCol w="1104900"/>
              </a:tblGrid>
              <a:tr h="6572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Method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E0F5"/>
                      </a:solidFill>
                      <a:prstDash val="solid"/>
                    </a:lnL>
                    <a:lnR w="9525">
                      <a:solidFill>
                        <a:srgbClr val="CFE0F5"/>
                      </a:solidFill>
                      <a:prstDash val="solid"/>
                    </a:lnR>
                    <a:lnT w="9525">
                      <a:solidFill>
                        <a:srgbClr val="CFE0F5"/>
                      </a:solidFill>
                      <a:prstDash val="solid"/>
                    </a:lnT>
                    <a:lnB w="9525">
                      <a:solidFill>
                        <a:srgbClr val="CFE0F5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Dice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E0F5"/>
                      </a:solidFill>
                      <a:prstDash val="solid"/>
                    </a:lnR>
                    <a:lnT w="9525">
                      <a:solidFill>
                        <a:srgbClr val="CFE0F5"/>
                      </a:solidFill>
                      <a:prstDash val="solid"/>
                    </a:lnT>
                    <a:lnB w="9525">
                      <a:solidFill>
                        <a:srgbClr val="CFE0F5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E0F5"/>
                      </a:solidFill>
                      <a:prstDash val="solid"/>
                    </a:lnR>
                    <a:lnT w="9525">
                      <a:solidFill>
                        <a:srgbClr val="CFE0F5"/>
                      </a:solidFill>
                      <a:prstDash val="solid"/>
                    </a:lnT>
                    <a:lnB w="9525">
                      <a:solidFill>
                        <a:srgbClr val="CFE0F5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Runtime s/img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E0F5"/>
                      </a:solidFill>
                      <a:prstDash val="solid"/>
                    </a:lnR>
                    <a:lnT w="9525">
                      <a:solidFill>
                        <a:srgbClr val="CFE0F5"/>
                      </a:solidFill>
                      <a:prstDash val="solid"/>
                    </a:lnT>
                    <a:lnB w="9525">
                      <a:solidFill>
                        <a:srgbClr val="CFE0F5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</a:rPr>
                        <a:t>Otsu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E0F5"/>
                      </a:solidFill>
                      <a:prstDash val="solid"/>
                    </a:lnL>
                    <a:lnR w="9525">
                      <a:solidFill>
                        <a:srgbClr val="CFE0F5"/>
                      </a:solidFill>
                      <a:prstDash val="solid"/>
                    </a:lnR>
                    <a:lnB w="9525">
                      <a:solidFill>
                        <a:srgbClr val="CFE0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</a:rPr>
                        <a:t>0.895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E0F5"/>
                      </a:solidFill>
                      <a:prstDash val="solid"/>
                    </a:lnR>
                    <a:lnB w="9525">
                      <a:solidFill>
                        <a:srgbClr val="CFE0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</a:rPr>
                        <a:t>14.06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E0F5"/>
                      </a:solidFill>
                      <a:prstDash val="solid"/>
                    </a:lnR>
                    <a:lnB w="9525">
                      <a:solidFill>
                        <a:srgbClr val="CFE0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</a:rPr>
                        <a:t>0.0327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E0F5"/>
                      </a:solidFill>
                      <a:prstDash val="solid"/>
                    </a:lnR>
                    <a:lnB w="9525">
                      <a:solidFill>
                        <a:srgbClr val="CFE0F5"/>
                      </a:solidFill>
                      <a:prstDash val="solid"/>
                    </a:lnB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</a:rPr>
                        <a:t>Watershed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E0F5"/>
                      </a:solidFill>
                      <a:prstDash val="solid"/>
                    </a:lnL>
                    <a:lnR w="9525">
                      <a:solidFill>
                        <a:srgbClr val="CFE0F5"/>
                      </a:solidFill>
                      <a:prstDash val="solid"/>
                    </a:lnR>
                    <a:lnB w="9525">
                      <a:solidFill>
                        <a:srgbClr val="CFE0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</a:rPr>
                        <a:t>0.894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E0F5"/>
                      </a:solidFill>
                      <a:prstDash val="solid"/>
                    </a:lnR>
                    <a:lnB w="9525">
                      <a:solidFill>
                        <a:srgbClr val="CFE0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</a:rPr>
                        <a:t>6.94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E0F5"/>
                      </a:solidFill>
                      <a:prstDash val="solid"/>
                    </a:lnR>
                    <a:lnB w="9525">
                      <a:solidFill>
                        <a:srgbClr val="CFE0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</a:rPr>
                        <a:t>0.0647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E0F5"/>
                      </a:solidFill>
                      <a:prstDash val="solid"/>
                    </a:lnR>
                    <a:lnB w="9525">
                      <a:solidFill>
                        <a:srgbClr val="CFE0F5"/>
                      </a:solidFill>
                      <a:prstDash val="solid"/>
                    </a:lnB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</a:rPr>
                        <a:t>StarDist Python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E0F5"/>
                      </a:solidFill>
                      <a:prstDash val="solid"/>
                    </a:lnL>
                    <a:lnR w="9525">
                      <a:solidFill>
                        <a:srgbClr val="CFE0F5"/>
                      </a:solidFill>
                      <a:prstDash val="solid"/>
                    </a:lnR>
                    <a:lnB w="9525">
                      <a:solidFill>
                        <a:srgbClr val="CFE0F5"/>
                      </a:solidFill>
                      <a:prstDash val="solid"/>
                    </a:lnB>
                    <a:solidFill>
                      <a:srgbClr val="E7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</a:rPr>
                        <a:t>0.915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E0F5"/>
                      </a:solidFill>
                      <a:prstDash val="solid"/>
                    </a:lnR>
                    <a:lnB w="9525">
                      <a:solidFill>
                        <a:srgbClr val="CFE0F5"/>
                      </a:solidFill>
                      <a:prstDash val="solid"/>
                    </a:lnB>
                    <a:solidFill>
                      <a:srgbClr val="E7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</a:rPr>
                        <a:t>3.48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E0F5"/>
                      </a:solidFill>
                      <a:prstDash val="solid"/>
                    </a:lnR>
                    <a:lnB w="9525">
                      <a:solidFill>
                        <a:srgbClr val="CFE0F5"/>
                      </a:solidFill>
                      <a:prstDash val="solid"/>
                    </a:lnB>
                    <a:solidFill>
                      <a:srgbClr val="E7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</a:rPr>
                        <a:t>0.3277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E0F5"/>
                      </a:solidFill>
                      <a:prstDash val="solid"/>
                    </a:lnR>
                    <a:lnB w="9525">
                      <a:solidFill>
                        <a:srgbClr val="CFE0F5"/>
                      </a:solidFill>
                      <a:prstDash val="solid"/>
                    </a:lnB>
                    <a:solidFill>
                      <a:srgbClr val="E7F4EE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BE74CF-ECE4-4B48-8636-DF4D9B640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62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StarDist có AP/PQ cao hơn và MAE đếm thấp hơn trên split này. Runtime tính cả tiền xử lý sau warm-up.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589EFA-71DE-44A7-9C5C-CA30D53C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Mean trên 50 test images. AP/PQ có SD trong report và results/dsb2018_benchmark/summary_metrics.csv.</a:t>
            </a:r>
          </a:p>
        </p:txBody>
      </p:sp>
    </p:spTree>
    <p:extLst>
      <p:ext uri="{BB962C8B-B14F-4D97-AF65-F5344CB8AC3E}">
        <p14:creationId xmlns:p14="http://schemas.microsoft.com/office/powerpoint/2010/main" val="32135518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C2EFE3-4C8E-4771-B16C-6ECD4DAB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Kết quả định tính: ca median cố định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0C82D7-474A-443E-9729-EB18E57CE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985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>
            <a:def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Giữ image ID từ lần chạy gốc, không chọn lại theo kết quả cập nhật.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0E5CFD-DF22-4726-AC45-7AACEAB2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572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>
            <a:def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95D1AE-65B7-485E-8DFB-D0A58428F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D25C0B-A99E-48DB-BA64-207536E808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449839a56346eb"/>
          <a:stretch xmlns:a="http://schemas.openxmlformats.org/drawingml/2006/main"/>
        </p:blipFill>
        <p:spPr>
          <a:xfrm xmlns:a="http://schemas.openxmlformats.org/drawingml/2006/main">
            <a:off x="742950" y="1468798"/>
            <a:ext cx="10706100" cy="222495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DEAA0B-E504-46E9-9B21-DDA8EAD5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32194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7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3BEE98-3F11-4848-A49C-68F45255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3387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>
            <a:defPPr algn="ctr">
              <a:defRPr sz="16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Otsu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ECD469-86F8-4774-8706-45CA4392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10125"/>
            <a:ext cx="2609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Nhiều nhân tiếp xúc có thể bị gộp thành một component.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64F667-EADD-482C-8FF9-D9A26ECF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143375"/>
            <a:ext cx="32194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75AD8B-E673-4687-945B-523EF6C5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33387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>
            <a:defPPr algn="ctr"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Watershed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FF05DD-43C9-4C40-9460-19BB592A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4810125"/>
            <a:ext cx="2609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Marker EDT tách được một phần blob. Kết quả phụ thuộc min_distance.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AC98F7-A055-4702-8915-33954B23E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43375"/>
            <a:ext cx="32194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2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56EE35-1F7D-4124-A448-EC8AA09C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33387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>
            <a:defPPr algn="ctr">
              <a:defRPr sz="16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StarDist Python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28D6FC-30BE-4CC5-8FCE-094C5F32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810125"/>
            <a:ext cx="2609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Polygon learned tách instance và giảm sai số đếm trên benchmark.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EBB8EF-532C-4B0A-9D72-9AB95746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Màu biểu diễn ID instance, không phải lớp semantic. Evidence: qualitative_median.png.</a:t>
            </a:r>
          </a:p>
        </p:txBody>
      </p:sp>
    </p:spTree>
    <p:extLst>
      <p:ext uri="{BB962C8B-B14F-4D97-AF65-F5344CB8AC3E}">
        <p14:creationId xmlns:p14="http://schemas.microsoft.com/office/powerpoint/2010/main" val="849566132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7FC66D-A6AF-47C0-A472-19230AEE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Giới hạn và case khó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ED17E5-78A9-4C13-938F-3839BAED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985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>
            <a:def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Ca low giữ từ lần chạy gốc. Không khẳng định vẫn thấp nhất trong lần chạy mới.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DC16C1-843A-41CE-9984-5162808F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572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>
            <a:def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6612ED-7CB5-4545-9033-763A0B27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4949C4-F7F0-4FAB-BD54-B0EAE2B66D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eac15da3df40e3"/>
          <a:stretch xmlns:a="http://schemas.openxmlformats.org/drawingml/2006/main"/>
        </p:blipFill>
        <p:spPr>
          <a:xfrm xmlns:a="http://schemas.openxmlformats.org/drawingml/2006/main">
            <a:off x="991246" y="1485900"/>
            <a:ext cx="10209508" cy="23622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30D3E2-9230-482A-B4AD-107AF647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3333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7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CCE407-F017-462C-AC4E-B3AFB38E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29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61AB81-F42D-4422-B36F-3F7BD723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0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467FD7-55D8-4A1A-B00A-354AB551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43425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>
            <a:def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Model pretrained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D889B4-E799-46B8-81F7-CC1C1D15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57750"/>
            <a:ext cx="241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734"/>
          </a:bodyPr>
          <a:lstStyle xmlns:a="http://schemas.openxmlformats.org/drawingml/2006/main">
            <a:def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Weight đã học từ DSB2018. Chưa xác minh độc lập image ID train của weight với test.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FB1966-9672-486E-9A2B-26891620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381500"/>
            <a:ext cx="3333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8DD66E-6BA9-40F8-9EAC-6D4E275C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5529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C7319F-3F11-4A74-A133-70A174D5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610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C49D59-0823-46E1-B63D-556D3ACB9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4543425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>
            <a:def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Hình học star-convex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D2A93F-C777-4063-96B7-8E73A37A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4857750"/>
            <a:ext cx="241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247"/>
          </a:bodyPr>
          <a:lstStyle xmlns:a="http://schemas.openxmlformats.org/drawingml/2006/main">
            <a:def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Không phù hợp hình vòng, phân nhánh hoặc lõm sâu dù threshold đúng.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3F2E0A-F66A-4D11-8E7F-7C17C465E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81500"/>
            <a:ext cx="3333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2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A5D9B6-96BB-4EC5-A9A7-CDD76B28D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529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9F6AF1-6EB7-42B9-BD32-ABB5A3C6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610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29E97D-A825-4BB5-96C3-E0BD25DB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543425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>
            <a:def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Tái lập cross-platform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32F776-4593-42ED-9259-A93820DB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857750"/>
            <a:ext cx="241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853"/>
          </a:bodyPr>
          <a:lstStyle xmlns:a="http://schemas.openxmlformats.org/drawingml/2006/main">
            <a:def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Khác version, normalization, tile hoặc NMS có thể làm label Fiji/Python khác nhau.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690750-413C-4D23-A8CF-6C32EDB8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Hướng phát triển: fine-tuning annotation nội bộ, ablation số tia, robustness noise và đánh giá 3D.</a:t>
            </a:r>
          </a:p>
        </p:txBody>
      </p:sp>
    </p:spTree>
    <p:extLst>
      <p:ext uri="{BB962C8B-B14F-4D97-AF65-F5344CB8AC3E}">
        <p14:creationId xmlns:p14="http://schemas.microsoft.com/office/powerpoint/2010/main" val="328992321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D95807-47BD-41E6-A62E-908BD9C4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Đối chiếu trực tiếp Fiji và Python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C14682-AA21-45F4-B677-619C4EFF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985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>
            <a:def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Ghép ID một-một trước khi so mask. Python là tham chiếu triển khai, không thay ground truth.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32CD3F-3101-4B26-99A4-26FB0A41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572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>
            <a:def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F8991B-579F-47F5-B4A1-5111155214CA}"/>
              </a:ext>
            </a:extLst>
          </p:cNvPr>
          <p:cNvGraphicFramePr/>
          <p:nvPr/>
        </p:nvGraphicFramePr>
        <p:xfrm>
          <a:off xmlns:a="http://schemas.openxmlformats.org/drawingml/2006/main" x="762000" y="1714500"/>
          <a:ext xmlns:a="http://schemas.openxmlformats.org/drawingml/2006/main" cx="10668000" cy="2476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778000"/>
                <a:gridCol w="1778000"/>
                <a:gridCol w="1778000"/>
                <a:gridCol w="1778000"/>
                <a:gridCol w="1778000"/>
                <a:gridCol w="1778000"/>
              </a:tblGrid>
              <a:tr h="619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E0F5"/>
                      </a:solidFill>
                      <a:prstDash val="solid"/>
                    </a:lnL>
                    <a:lnR w="9525">
                      <a:solidFill>
                        <a:srgbClr val="CFE0F5"/>
                      </a:solidFill>
                      <a:prstDash val="solid"/>
                    </a:lnR>
                    <a:lnT w="9525">
                      <a:solidFill>
                        <a:srgbClr val="CFE0F5"/>
                      </a:solidFill>
                      <a:prstDash val="solid"/>
                    </a:lnT>
                    <a:lnB w="9525">
                      <a:solidFill>
                        <a:srgbClr val="CFE0F5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 Python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E0F5"/>
                      </a:solidFill>
                      <a:prstDash val="solid"/>
                    </a:lnR>
                    <a:lnT w="9525">
                      <a:solidFill>
                        <a:srgbClr val="CFE0F5"/>
                      </a:solidFill>
                      <a:prstDash val="solid"/>
                    </a:lnT>
                    <a:lnB w="9525">
                      <a:solidFill>
                        <a:srgbClr val="CFE0F5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 Fiji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E0F5"/>
                      </a:solidFill>
                      <a:prstDash val="solid"/>
                    </a:lnR>
                    <a:lnT w="9525">
                      <a:solidFill>
                        <a:srgbClr val="CFE0F5"/>
                      </a:solidFill>
                      <a:prstDash val="solid"/>
                    </a:lnT>
                    <a:lnB w="9525">
                      <a:solidFill>
                        <a:srgbClr val="CFE0F5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F1@.50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E0F5"/>
                      </a:solidFill>
                      <a:prstDash val="solid"/>
                    </a:lnR>
                    <a:lnT w="9525">
                      <a:solidFill>
                        <a:srgbClr val="CFE0F5"/>
                      </a:solidFill>
                      <a:prstDash val="solid"/>
                    </a:lnT>
                    <a:lnB w="9525">
                      <a:solidFill>
                        <a:srgbClr val="CFE0F5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IoU ghép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E0F5"/>
                      </a:solidFill>
                      <a:prstDash val="solid"/>
                    </a:lnR>
                    <a:lnT w="9525">
                      <a:solidFill>
                        <a:srgbClr val="CFE0F5"/>
                      </a:solidFill>
                      <a:prstDash val="solid"/>
                    </a:lnT>
                    <a:lnB w="9525">
                      <a:solidFill>
                        <a:srgbClr val="CFE0F5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Dice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E0F5"/>
                      </a:solidFill>
                      <a:prstDash val="solid"/>
                    </a:lnR>
                    <a:lnT w="9525">
                      <a:solidFill>
                        <a:srgbClr val="CFE0F5"/>
                      </a:solidFill>
                      <a:prstDash val="solid"/>
                    </a:lnT>
                    <a:lnB w="9525">
                      <a:solidFill>
                        <a:srgbClr val="CFE0F5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</a:rPr>
                        <a:t>low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E0F5"/>
                      </a:solidFill>
                      <a:prstDash val="solid"/>
                    </a:lnL>
                    <a:lnR w="9525">
                      <a:solidFill>
                        <a:srgbClr val="CFE0F5"/>
                      </a:solidFill>
                      <a:prstDash val="solid"/>
                    </a:lnR>
                    <a:lnB w="9525">
                      <a:solidFill>
                        <a:srgbClr val="CFE0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E0F5"/>
                      </a:solidFill>
                      <a:prstDash val="solid"/>
                    </a:lnR>
                    <a:lnB w="9525">
                      <a:solidFill>
                        <a:srgbClr val="CFE0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E0F5"/>
                      </a:solidFill>
                      <a:prstDash val="solid"/>
                    </a:lnR>
                    <a:lnB w="9525">
                      <a:solidFill>
                        <a:srgbClr val="CFE0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</a:rPr>
                        <a:t>0.900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E0F5"/>
                      </a:solidFill>
                      <a:prstDash val="solid"/>
                    </a:lnR>
                    <a:lnB w="9525">
                      <a:solidFill>
                        <a:srgbClr val="CFE0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</a:rPr>
                        <a:t>0.996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E0F5"/>
                      </a:solidFill>
                      <a:prstDash val="solid"/>
                    </a:lnR>
                    <a:lnB w="9525">
                      <a:solidFill>
                        <a:srgbClr val="CFE0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</a:rPr>
                        <a:t>0.940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E0F5"/>
                      </a:solidFill>
                      <a:prstDash val="solid"/>
                    </a:lnR>
                    <a:lnB w="9525">
                      <a:solidFill>
                        <a:srgbClr val="CFE0F5"/>
                      </a:solidFill>
                      <a:prstDash val="solid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</a:rPr>
                        <a:t>median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E0F5"/>
                      </a:solidFill>
                      <a:prstDash val="solid"/>
                    </a:lnL>
                    <a:lnR w="9525">
                      <a:solidFill>
                        <a:srgbClr val="CFE0F5"/>
                      </a:solidFill>
                      <a:prstDash val="solid"/>
                    </a:lnR>
                    <a:lnB w="9525">
                      <a:solidFill>
                        <a:srgbClr val="CFE0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</a:rPr>
                        <a:t>157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E0F5"/>
                      </a:solidFill>
                      <a:prstDash val="solid"/>
                    </a:lnR>
                    <a:lnB w="9525">
                      <a:solidFill>
                        <a:srgbClr val="CFE0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</a:rPr>
                        <a:t>156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E0F5"/>
                      </a:solidFill>
                      <a:prstDash val="solid"/>
                    </a:lnR>
                    <a:lnB w="9525">
                      <a:solidFill>
                        <a:srgbClr val="CFE0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</a:rPr>
                        <a:t>0.990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E0F5"/>
                      </a:solidFill>
                      <a:prstDash val="solid"/>
                    </a:lnR>
                    <a:lnB w="9525">
                      <a:solidFill>
                        <a:srgbClr val="CFE0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</a:rPr>
                        <a:t>0.997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E0F5"/>
                      </a:solidFill>
                      <a:prstDash val="solid"/>
                    </a:lnR>
                    <a:lnB w="9525">
                      <a:solidFill>
                        <a:srgbClr val="CFE0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</a:rPr>
                        <a:t>0.997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E0F5"/>
                      </a:solidFill>
                      <a:prstDash val="solid"/>
                    </a:lnR>
                    <a:lnB w="9525">
                      <a:solidFill>
                        <a:srgbClr val="CFE0F5"/>
                      </a:solidFill>
                      <a:prstDash val="solid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E0F5"/>
                      </a:solidFill>
                      <a:prstDash val="solid"/>
                    </a:lnL>
                    <a:lnR w="9525">
                      <a:solidFill>
                        <a:srgbClr val="CFE0F5"/>
                      </a:solidFill>
                      <a:prstDash val="solid"/>
                    </a:lnR>
                    <a:lnB w="9525">
                      <a:solidFill>
                        <a:srgbClr val="CFE0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</a:rPr>
                        <a:t>24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E0F5"/>
                      </a:solidFill>
                      <a:prstDash val="solid"/>
                    </a:lnR>
                    <a:lnB w="9525">
                      <a:solidFill>
                        <a:srgbClr val="CFE0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</a:rPr>
                        <a:t>24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E0F5"/>
                      </a:solidFill>
                      <a:prstDash val="solid"/>
                    </a:lnR>
                    <a:lnB w="9525">
                      <a:solidFill>
                        <a:srgbClr val="CFE0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</a:rPr>
                        <a:t>1.000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E0F5"/>
                      </a:solidFill>
                      <a:prstDash val="solid"/>
                    </a:lnR>
                    <a:lnB w="9525">
                      <a:solidFill>
                        <a:srgbClr val="CFE0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</a:rPr>
                        <a:t>0.990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E0F5"/>
                      </a:solidFill>
                      <a:prstDash val="solid"/>
                    </a:lnR>
                    <a:lnB w="9525">
                      <a:solidFill>
                        <a:srgbClr val="CFE0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</a:rPr>
                        <a:t>0.998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E0F5"/>
                      </a:solidFill>
                      <a:prstDash val="solid"/>
                    </a:lnR>
                    <a:lnB w="9525">
                      <a:solidFill>
                        <a:srgbClr val="CFE0F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96ABB3-48FD-41F9-AD98-2E5CF55FE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C2410C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C2410C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C2410C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C2410C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C2410C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C2410C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C2410C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C2410C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C2410C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C2410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C2410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2410C"/>
                </a:solidFill>
                <a:latin typeface="Arial"/>
                <a:ea typeface="Arial"/>
                <a:cs typeface="Arial"/>
              </a:rPr>
              <a:t>Tiêu chí mô tả: F1 ≥ 0.95 và Dice ≥ 0.95. Median/high đạt, low chưa đạt. Hai object Fiji ở ca low không ghép được với Python.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D81AF4-A4E2-4976-BEBB-53C4C27E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673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Percentile NumPy và histogram Java khác nhau. Java chặn giá trị âm, boundary policy và TensorFlow cũng khác phiên bản.</a:t>
            </a:r>
          </a:p>
        </p:txBody>
      </p:sp>
    </p:spTree>
    <p:extLst>
      <p:ext uri="{BB962C8B-B14F-4D97-AF65-F5344CB8AC3E}">
        <p14:creationId xmlns:p14="http://schemas.microsoft.com/office/powerpoint/2010/main" val="1827530650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07A114-361E-454A-AD0B-8328DB68E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Ảnh hưởng ngưỡng trên 30 ảnh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C7C372-20C7-4E59-86EA-ADC8AE89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985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>
            <a:def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Test giữ ngưỡng model công bố. Sweep chỉ mô tả hậu xử lý trên các ảnh train-validation đã chốt.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CFD5A9-95CC-48C9-81A9-F244C557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572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>
            <a:def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9D0C6480-8C01-41E0-B8C4-B591D8D0411D}"/>
              </a:ext>
            </a:extLst>
          </p:cNvPr>
          <p:cNvGraphicFramePr/>
          <p:nvPr/>
        </p:nvGraphicFramePr>
        <p:xfrm>
          <a:off xmlns:a="http://schemas.openxmlformats.org/drawingml/2006/main" x="685800" y="1666875"/>
          <a:ext xmlns:a="http://schemas.openxmlformats.org/drawingml/2006/main" cx="523875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5a9dd8354d7470f"/>
          </a:graphicData>
        </a:graphic>
      </p:graphicFrame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F18A587B-B5DB-4084-9013-8E1C7E813DE4}"/>
              </a:ext>
            </a:extLst>
          </p:cNvPr>
          <p:cNvGraphicFramePr/>
          <p:nvPr/>
        </p:nvGraphicFramePr>
        <p:xfrm>
          <a:off xmlns:a="http://schemas.openxmlformats.org/drawingml/2006/main" x="6305550" y="1666875"/>
          <a:ext xmlns:a="http://schemas.openxmlformats.org/drawingml/2006/main" cx="523875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bda3d27336b4670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046E00-D8E1-4F91-8B55-EE3CF2B0B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Tăng probability 0.3 lên 0.7: AP 0.864 xuống 0.777, số object trung bình 35.47 xuống 31.50, FN tăng 3.13 lên 6.47.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A285E1-061F-4489-8059-EAC6B6D5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Mean trên cùng 30 ảnh. SD, FP/FN và MAE đầy đủ trong CSV. CNN maps tái sử dụng, không báo runtime inference của sweep.</a:t>
            </a:r>
          </a:p>
        </p:txBody>
      </p:sp>
    </p:spTree>
    <p:extLst>
      <p:ext uri="{BB962C8B-B14F-4D97-AF65-F5344CB8AC3E}">
        <p14:creationId xmlns:p14="http://schemas.microsoft.com/office/powerpoint/2010/main" val="205312282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61F17E-EAA4-42C0-B005-09EBDFD0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3900"/>
            <a:ext cx="571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500"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Kết luận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78444A-543D-4F68-A0C5-846DEA0B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5010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45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F8A4FC-9AAB-4C5E-9CD1-B8460E3AC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907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CCE970-E1DD-4383-8200-04BAE26A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47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85C6D1-9A75-485F-82A5-63D5AF17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811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Thuật toán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748206-2CF4-4B82-9224-7DF1F103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955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4E2F4"/>
                </a:solidFill>
                <a:latin typeface="Arial"/>
                <a:ea typeface="Arial"/>
                <a:cs typeface="Arial"/>
              </a:rPr>
              <a:t>StarDist biến probability map và K ray distances thành polygon instance qua NMS.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89268A-0F23-4BC3-B486-DBDD09A1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19250"/>
            <a:ext cx="5010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45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ADB4B5-47A9-4D2D-9097-EC8FD240A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7907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DD5AB8-9C98-4CCE-BB65-BBFE8B80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47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39BACD-9D49-4B35-A44D-00D600AC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7811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Thực nghiệm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86BDC1-6CB8-45A7-BF87-6313802DB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955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4E2F4"/>
                </a:solidFill>
                <a:latin typeface="Arial"/>
                <a:ea typeface="Arial"/>
                <a:cs typeface="Arial"/>
              </a:rPr>
              <a:t>StarDist Python đạt AP@.50 0.846 và PQ 0.782 trên DSB2018 n=50.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4F2EF5-B665-4B56-AFC3-69F3C3480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010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45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A38684-8B79-417A-AE1D-2C0C6FFD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47F24D-F619-4E1E-9AE7-D881610F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67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2BA96C-6457-4311-BC49-B5AFC444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4004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Fiji/ImageJ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D35053-0734-414F-A4DB-B69A6399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147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4E2F4"/>
                </a:solidFill>
                <a:latin typeface="Arial"/>
                <a:ea typeface="Arial"/>
                <a:cs typeface="Arial"/>
              </a:rPr>
              <a:t>Plugin thật tạo Label TIFF, run log và metric n=3 để kiểm chứng workflow cross-platform.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70DB4D-B994-462B-8621-F30F3B1F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38500"/>
            <a:ext cx="5010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45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EAF2DE-544E-4D40-A00E-215A923D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099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3E193A-D0CD-4CC8-AE2D-D4F2DFB0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67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4073E1-56FD-46DE-87E6-42D9FDD6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004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Tái lập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240417-8460-4999-8509-7ADEE9FC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147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4E2F4"/>
                </a:solidFill>
                <a:latin typeface="Arial"/>
                <a:ea typeface="Arial"/>
                <a:cs typeface="Arial"/>
              </a:rPr>
              <a:t>Repo có dataset versioned, Python package, Java runner, macro, test, CSV, TIFF và figures.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964AA4-AE1B-4E42-812C-EE4B840A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292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898"/>
          </a:bodyPr>
          <a:lstStyle xmlns:a="http://schemas.openxmlformats.org/drawingml/2006/main">
            <a:defPPr algn="ctr">
              <a:defRPr sz="157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8CAE4"/>
                </a:solidFill>
                <a:latin typeface="Arial"/>
                <a:ea typeface="Arial"/>
                <a:cs typeface="Arial"/>
              </a:rPr>
              <a:t>Thông điệp chính: đánh giá instance phải dùng matching theo object. Foreground Dice một mình không đủ kết luận khả năng tách đối tượng.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DC02B3-BCFD-4C33-8789-B19E8018F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103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>
            <a:defPPr algn="l">
              <a:defRPr sz="1275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4E2F4"/>
                </a:solidFill>
                <a:latin typeface="Arial"/>
                <a:ea typeface="Arial"/>
                <a:cs typeface="Arial"/>
              </a:rPr>
              <a:t>Cảm ơn</a:t>
            </a:r>
          </a:p>
        </p:txBody>
      </p:sp>
    </p:spTree>
    <p:extLst>
      <p:ext uri="{BB962C8B-B14F-4D97-AF65-F5344CB8AC3E}">
        <p14:creationId xmlns:p14="http://schemas.microsoft.com/office/powerpoint/2010/main" val="10491200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2026-10-24T07:21:18.1040000Z</dcterms:created>
  <dcterms:modified xsi:type="dcterms:W3CDTF">2026-10-24T07:21:18.1040000Z</dcterms:modified>
</coreProperties>
</file>