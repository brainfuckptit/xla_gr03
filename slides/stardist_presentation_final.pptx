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f3836f5e7e4509" /><Relationship Type="http://schemas.openxmlformats.org/officeDocument/2006/relationships/extended-properties" Target="/docProps/app.xml" Id="R56157be5d1914757" /><Relationship Type="http://schemas.openxmlformats.org/officeDocument/2006/relationships/officeDocument" Target="/ppt/presentation.xml" Id="R8d151f5c597041c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ef633203a24f24"/>
  </p:sldMasterIdLst>
  <p:notesMasterIdLst>
    <p:notesMasterId xmlns:r="http://schemas.openxmlformats.org/officeDocument/2006/relationships" r:id="R4adaece93b6a4ae1"/>
  </p:notesMasterIdLst>
  <p:sldIdLst>
    <p:sldId xmlns:r="http://schemas.openxmlformats.org/officeDocument/2006/relationships" id="256" r:id="R23b92e0b65cf4bd2"/>
    <p:sldId xmlns:r="http://schemas.openxmlformats.org/officeDocument/2006/relationships" id="257" r:id="R05a56b5063b84f26"/>
    <p:sldId xmlns:r="http://schemas.openxmlformats.org/officeDocument/2006/relationships" id="258" r:id="Rfc1492b1684847a1"/>
    <p:sldId xmlns:r="http://schemas.openxmlformats.org/officeDocument/2006/relationships" id="259" r:id="Rd92a4394880945cb"/>
    <p:sldId xmlns:r="http://schemas.openxmlformats.org/officeDocument/2006/relationships" id="260" r:id="Rc88811528ab24544"/>
    <p:sldId xmlns:r="http://schemas.openxmlformats.org/officeDocument/2006/relationships" id="261" r:id="R8713b8a5357c463d"/>
    <p:sldId xmlns:r="http://schemas.openxmlformats.org/officeDocument/2006/relationships" id="262" r:id="R0ac61e08a8c14c78"/>
    <p:sldId xmlns:r="http://schemas.openxmlformats.org/officeDocument/2006/relationships" id="263" r:id="R5b6d881f1090492e"/>
    <p:sldId xmlns:r="http://schemas.openxmlformats.org/officeDocument/2006/relationships" id="264" r:id="R69ef3b2f15e74061"/>
    <p:sldId xmlns:r="http://schemas.openxmlformats.org/officeDocument/2006/relationships" id="265" r:id="R2ea9fdf157f6491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97da70b9da4399" /><Relationship Type="http://schemas.openxmlformats.org/officeDocument/2006/relationships/slideMaster" Target="/ppt/slideMasters/slideMaster1.xml" Id="Rbdef633203a24f24" /><Relationship Type="http://schemas.openxmlformats.org/officeDocument/2006/relationships/notesMaster" Target="/ppt/notesMasters/notesMaster1.xml" Id="R4adaece93b6a4ae1" /><Relationship Type="http://schemas.openxmlformats.org/officeDocument/2006/relationships/presProps" Target="/ppt/presProps.xml" Id="Rbf760b25f065495e" /><Relationship Type="http://schemas.openxmlformats.org/officeDocument/2006/relationships/tableStyles" Target="/ppt/tableStyles.xml" Id="R969cd61d5d074198" /><Relationship Type="http://schemas.openxmlformats.org/officeDocument/2006/relationships/slide" Target="/ppt/slides/slide1.xml" Id="R23b92e0b65cf4bd2" /><Relationship Type="http://schemas.openxmlformats.org/officeDocument/2006/relationships/slide" Target="/ppt/slides/slide2.xml" Id="R05a56b5063b84f26" /><Relationship Type="http://schemas.openxmlformats.org/officeDocument/2006/relationships/slide" Target="/ppt/slides/slide3.xml" Id="Rfc1492b1684847a1" /><Relationship Type="http://schemas.openxmlformats.org/officeDocument/2006/relationships/slide" Target="/ppt/slides/slide4.xml" Id="Rd92a4394880945cb" /><Relationship Type="http://schemas.openxmlformats.org/officeDocument/2006/relationships/slide" Target="/ppt/slides/slide5.xml" Id="Rc88811528ab24544" /><Relationship Type="http://schemas.openxmlformats.org/officeDocument/2006/relationships/slide" Target="/ppt/slides/slide6.xml" Id="R8713b8a5357c463d" /><Relationship Type="http://schemas.openxmlformats.org/officeDocument/2006/relationships/slide" Target="/ppt/slides/slide7.xml" Id="R0ac61e08a8c14c78" /><Relationship Type="http://schemas.openxmlformats.org/officeDocument/2006/relationships/slide" Target="/ppt/slides/slide8.xml" Id="R5b6d881f1090492e" /><Relationship Type="http://schemas.openxmlformats.org/officeDocument/2006/relationships/slide" Target="/ppt/slides/slide9.xml" Id="R69ef3b2f15e74061" /><Relationship Type="http://schemas.openxmlformats.org/officeDocument/2006/relationships/slide" Target="/ppt/slides/slide10.xml" Id="R2ea9fdf157f649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09e1353b1ae42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62bd76af9a454e" /><Relationship Type="http://schemas.openxmlformats.org/officeDocument/2006/relationships/notesMaster" Target="/ppt/notesMasters/notesMaster1.xml" Id="R01f95c295f6049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aa40e85160a45ca" /><Relationship Type="http://schemas.openxmlformats.org/officeDocument/2006/relationships/notesMaster" Target="/ppt/notesMasters/notesMaster1.xml" Id="Rbf80f96d9eb9466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8641901b73b4c4a" /><Relationship Type="http://schemas.openxmlformats.org/officeDocument/2006/relationships/notesMaster" Target="/ppt/notesMasters/notesMaster1.xml" Id="R7c5624b9d41d447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0af835c667b446a" /><Relationship Type="http://schemas.openxmlformats.org/officeDocument/2006/relationships/notesMaster" Target="/ppt/notesMasters/notesMaster1.xml" Id="R8ca47cd2d90c49a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c079ef45fa94f92" /><Relationship Type="http://schemas.openxmlformats.org/officeDocument/2006/relationships/notesMaster" Target="/ppt/notesMasters/notesMaster1.xml" Id="R68d7dc0e166a45a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a103087425a458c" /><Relationship Type="http://schemas.openxmlformats.org/officeDocument/2006/relationships/notesMaster" Target="/ppt/notesMasters/notesMaster1.xml" Id="Rd95988399fd7456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462d103ecfe4994" /><Relationship Type="http://schemas.openxmlformats.org/officeDocument/2006/relationships/notesMaster" Target="/ppt/notesMasters/notesMaster1.xml" Id="R372dea8954de471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b8ce8d9be7c413b" /><Relationship Type="http://schemas.openxmlformats.org/officeDocument/2006/relationships/notesMaster" Target="/ppt/notesMasters/notesMaster1.xml" Id="Rc198f2f2b64841c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07cdc7eb5f14483" /><Relationship Type="http://schemas.openxmlformats.org/officeDocument/2006/relationships/notesMaster" Target="/ppt/notesMasters/notesMaster1.xml" Id="R06d771829c384dc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c5320c801a843c0" /><Relationship Type="http://schemas.openxmlformats.org/officeDocument/2006/relationships/notesMaster" Target="/ppt/notesMasters/notesMaster1.xml" Id="R7a655833618144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Schmidt et al. (2018); tài liệu repo.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Schmidt et al., Cell Detection with Star-convex Polygons, 2018.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Otsu (1979); Vincent &amp; Soille (1991).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2fbfb5c1a441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90946a2ebd4931" /><Relationship Type="http://schemas.openxmlformats.org/officeDocument/2006/relationships/slideLayout" Target="/ppt/slideLayouts/slideLayout1.xml" Id="R3c9580aa21d443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9580aa21d443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93ee1ff7a14acb" /><Relationship Type="http://schemas.openxmlformats.org/officeDocument/2006/relationships/notesSlide" Target="/ppt/notesSlides/notesSlide1.xml" Id="R524403cad52d43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13d61ed73843bd" /><Relationship Type="http://schemas.openxmlformats.org/officeDocument/2006/relationships/notesSlide" Target="/ppt/notesSlides/notesSlide2.xml" Id="R7e792ee15edd401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e11a2f4e7845bc" /><Relationship Type="http://schemas.openxmlformats.org/officeDocument/2006/relationships/notesSlide" Target="/ppt/notesSlides/notesSlide3.xml" Id="Rf7a15ef6ba8d41f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d41e9c23174bcb" /><Relationship Type="http://schemas.openxmlformats.org/officeDocument/2006/relationships/notesSlide" Target="/ppt/notesSlides/notesSlide4.xml" Id="R6bb70c6098b047c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30923ad40845f4" /><Relationship Type="http://schemas.openxmlformats.org/officeDocument/2006/relationships/notesSlide" Target="/ppt/notesSlides/notesSlide5.xml" Id="Rce7338131ee94b2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5395a0602e4e93" /><Relationship Type="http://schemas.openxmlformats.org/officeDocument/2006/relationships/notesSlide" Target="/ppt/notesSlides/notesSlide6.xml" Id="R970db30317ca4a7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7357e00d8c4d69" /><Relationship Type="http://schemas.openxmlformats.org/officeDocument/2006/relationships/notesSlide" Target="/ppt/notesSlides/notesSlide7.xml" Id="R9eada46744f04d8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d0291923624521" /><Relationship Type="http://schemas.openxmlformats.org/officeDocument/2006/relationships/notesSlide" Target="/ppt/notesSlides/notesSlide8.xml" Id="Re32db5f9f6d2481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e3d3bc6b344bc1" /><Relationship Type="http://schemas.openxmlformats.org/officeDocument/2006/relationships/notesSlide" Target="/ppt/notesSlides/notesSlide9.xml" Id="Re3b08e9fe6604aa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59a2676ba44e2a" /><Relationship Type="http://schemas.openxmlformats.org/officeDocument/2006/relationships/notesSlide" Target="/ppt/notesSlides/notesSlide10.xml" Id="R38c42a9a7fbd4ef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9D9029-7DEA-4CEE-9253-2C668291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8096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PHÂN ĐOẠN TỪNG ĐỐI TƯỢNG</a:t>
            </a:r>
          </a:p>
          <a:p xmlns:a="http://schemas.openxmlformats.org/drawingml/2006/main">
            <a:pPr algn="l">
              <a:defRPr sz="35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BẰNG STARDIST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EE9C5C-23CF-4E85-B513-7CDB2DA7D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704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8CAE4"/>
                </a:solidFill>
                <a:latin typeface="Arial"/>
                <a:ea typeface="Arial"/>
                <a:cs typeface="Arial"/>
              </a:rPr>
              <a:t>Đối chiếu Fiji/ImageJ và cài đặt Python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C82731-A3F2-4EDF-BFA3-B9944B8F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F148B3-FC05-4ED7-9F4B-818CF8284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Bài tập lớn Xử lý ảnh số | Nhóm 03 | PTIT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49FB21-C2D7-4E9F-AFB4-DB132A16D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4E2F4"/>
                </a:solidFill>
                <a:latin typeface="Arial"/>
                <a:ea typeface="Arial"/>
                <a:cs typeface="Arial"/>
              </a:rPr>
              <a:t>Thành viên: điền tên và MSSV trước khi nộp</a:t>
            </a:r>
          </a:p>
        </p:txBody>
      </p:sp>
    </p:spTree>
    <p:extLst>
      <p:ext uri="{BB962C8B-B14F-4D97-AF65-F5344CB8AC3E}">
        <p14:creationId xmlns:p14="http://schemas.microsoft.com/office/powerpoint/2010/main" val="174994944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9DAC86-D470-45C2-AE99-602884F9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Bài toán và mục tiêu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E6A58C-3B63-43D8-BBA7-38C287793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63D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B98178-0CE3-4396-8443-B8AC342A1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143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DE3EF6-BCEF-4433-932D-4349847A0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Instance segmentation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0040F7-D95F-48FF-84F0-9A0EABA4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76B534-3DA6-4D8C-8CA5-83198F8D3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478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184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Không chỉ nhận diện foreground mà còn gán ID riêng cho từng tế bào.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EAB5EB-0E07-4984-95E3-CA4AA16CE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3F6266-9FFB-43E3-A215-77ECC2CD9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478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952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Cần thiết cho đếm tế bào, diện tích, hình dạng và phân tích sinh học.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73CF2B-3054-46BE-9041-1D8E327F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6628D-7FC7-47ED-9E4F-A7A5A196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00400"/>
            <a:ext cx="478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8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Khó nhất khi các nhân có biên mờ hoặc chạm nhau.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D50722-EC9C-4A63-A557-EE25B0852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28750"/>
            <a:ext cx="4286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760B77-1E18-459F-A0E7-8124ABF53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8097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79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Mục tiêu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E626FE-BE41-473E-BF51-9D282A47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33625"/>
            <a:ext cx="333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1. Hiểu StarDist và plugin Fiji</a:t>
            </a:r>
          </a:p>
          <a:p xmlns:a="http://schemas.openxmlformats.org/drawingml/2006/main">
            <a: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2. Cài đặt pipeline Python</a:t>
            </a:r>
          </a:p>
          <a:p xmlns:a="http://schemas.openxmlformats.org/drawingml/2006/main">
            <a: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3. So sánh với Otsu và Watershed</a:t>
            </a:r>
          </a:p>
          <a:p xmlns:a="http://schemas.openxmlformats.org/drawingml/2006/main">
            <a: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4. Đánh giá bằng metric instance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985C6E-A4E2-4533-90EB-33ABAF527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Ground truth là label image: nền = 0, mỗi instance có một ID dương.</a:t>
            </a:r>
          </a:p>
        </p:txBody>
      </p:sp>
    </p:spTree>
    <p:extLst>
      <p:ext uri="{BB962C8B-B14F-4D97-AF65-F5344CB8AC3E}">
        <p14:creationId xmlns:p14="http://schemas.microsoft.com/office/powerpoint/2010/main" val="3842415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0A3A45-2DBC-4128-8C2F-11372DBEC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StarDist 2D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62F24D-616E-4A0C-8DE3-8EA7E5A7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63D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4DC5F7-6C31-44B8-9C66-58EA85C6B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143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55E09A-74F1-4D2B-97F7-20C000B69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Mạng CNN/U-Net sinh hai trường dự đoán cho từng pixel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9CF2F9-933E-40B9-9DC9-99AF1A04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2381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043350-A2A5-41B7-85A1-346EA5F70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71165B-61A5-4A42-919D-FB7665722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Probability map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04374B-8A59-4F2C-BC23-A8E4D6F6F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71875"/>
            <a:ext cx="1924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Score cao ở tâm object, thấp ở biên và nền.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E607E4-663B-4BA4-A30B-D284D6EF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28875"/>
            <a:ext cx="2381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C0DDA9-AB70-42EE-B72D-0B730531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6479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685065-F725-486A-B801-F5C936B83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432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Ray distances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4CD12C-FA5E-4578-818E-938B0CFCB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71875"/>
            <a:ext cx="1924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5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K khoảng cách đến biên theo các hướng cố định.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F02F21-377C-4F8D-B319-AEFAF6BC7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28875"/>
            <a:ext cx="2381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F8EB5F-20E6-4CDA-8CE7-F67262DF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479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FE90AC-E256-4D1A-99D7-5BFE051C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432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Polygon + NMS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8B4F17-B853-44C8-8F05-7103A235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71875"/>
            <a:ext cx="1924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9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Giải mã proposal và giữ một polygon cho mỗi object.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0ECB67-6ECC-42AA-B513-6AF8CB9B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28875"/>
            <a:ext cx="2381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96812E-34D8-4E16-8490-EEF663A3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479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6331B1-ABD5-4C8D-93AC-09E2DCF8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432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Label image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2121B6-7D59-4FFD-BFA5-955497B24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71875"/>
            <a:ext cx="1924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9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Rasterize polygon thành nhãn instance để đo metric.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18FD23-075C-4CE2-908F-F1F17FF5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StarDist paper dùng 32 tia trong các thí nghiệm 2D. Nguồn: Schmidt et al., 2018.</a:t>
            </a:r>
          </a:p>
        </p:txBody>
      </p:sp>
    </p:spTree>
    <p:extLst>
      <p:ext uri="{BB962C8B-B14F-4D97-AF65-F5344CB8AC3E}">
        <p14:creationId xmlns:p14="http://schemas.microsoft.com/office/powerpoint/2010/main" val="57100993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AC2688-C703-4B27-83D9-CDA1B978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Biểu diễn star-convex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AA8A23-9950-46B2-A393-386065032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63D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369A09-E130-487B-9A7B-966BD23AB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143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896BA2-DD9E-4B1B-B28F-A3899DE7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Một object star-convex cho phép nối từ tâm đến mọi điểm biên mà không đi ra ngoài object.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06A071-98BB-460E-9977-E7A0490D6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9525">
            <a:solidFill>
              <a:srgbClr val="1363D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2DAA15-A86E-4A8D-BECF-9E69B5E8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3813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Tâm 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DB0CA7-AA23-4694-8827-3325D99D7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530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Các tia r₀ … rₖ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2FB281-778C-4F63-B43C-7DDD5040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7175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vₖ(p) = p + r̂ₖ(p)(cos θₖ, sin θₖ)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13A8C8-3719-4A3A-9F7D-375E353F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38500"/>
            <a:ext cx="571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Mỗi pixel foreground có một vector khoảng cách.</a:t>
            </a:r>
          </a:p>
          <a:p xmlns:a="http://schemas.openxmlformats.org/drawingml/2006/main">
            <a:pPr algn="l">
              <a:defRPr sz="17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Nối các đầu tia tạo một đa giác đại diện cho instance.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6EA775-B7EB-4EAE-B547-CB77AEC1C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81500"/>
            <a:ext cx="600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34A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34A00"/>
                </a:solidFill>
                <a:latin typeface="Arial"/>
                <a:ea typeface="Arial"/>
                <a:cs typeface="Arial"/>
              </a:rPr>
              <a:t>Giới hạn: hình vòng, nhiều nhánh hoặc lõm sâu có thể không phù hợp giả thiết.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F5EDC6-0233-47B1-A336-C3A2E8064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Chi tiết công thức và phân tích sai số: docs/01_ly_thuyet_stardist.md.</a:t>
            </a:r>
          </a:p>
        </p:txBody>
      </p:sp>
    </p:spTree>
    <p:extLst>
      <p:ext uri="{BB962C8B-B14F-4D97-AF65-F5344CB8AC3E}">
        <p14:creationId xmlns:p14="http://schemas.microsoft.com/office/powerpoint/2010/main" val="75111580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346D32-4DF9-4E5A-B127-8A84E95B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Non-Maximum Suppression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78493C-2B82-4FA0-BADC-4215D5C63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63D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BC625C-EA8B-49A8-A648-C1160C27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143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3D17C6-53A3-45F0-B998-7A55AD732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CNN tạo nhiều proposal trùng cho một object. NMS chọn proposal có score cao trước.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C8CE3F-7BE3-4DEA-A506-1110179E5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242887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E3F6FC-2F37-47E8-9F93-87003722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107367-D802-4D62-910D-1A3CF5582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1971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Lọc candidate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18BE40-19B3-4641-80B9-D25F9E174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71875"/>
            <a:ext cx="19716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Giữ pixel có probability ≥ ngưỡng.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095058-A26F-48AA-A9E2-D322D386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28875"/>
            <a:ext cx="242887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2FB404-F697-4522-8741-68D2A00B4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6479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66D5E2-11D0-4407-9C0D-987F2E0F2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43250"/>
            <a:ext cx="1971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Sắp theo score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26613C-66D8-49C5-B007-223D939DF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71875"/>
            <a:ext cx="19716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Proposal xác suất cao được xử lý trước.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DE7C7E-F9B1-4DC0-83AF-096C05A0C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28875"/>
            <a:ext cx="242887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E5AF4C-F477-4EB6-9F69-41DC5494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479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5629BE-6168-4A15-BCE4-E7CEC2811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43250"/>
            <a:ext cx="1971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So overlap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0A7E86-23DA-45B8-A0BA-64926C36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71875"/>
            <a:ext cx="19716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Loại proposal chồng lấn quá ngưỡng NMS.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A76E09-2847-4087-8D4D-30772543F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28875"/>
            <a:ext cx="242887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A0F126-72C3-4007-A2F2-C49626E50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479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F10387-DA90-419F-B752-C0033ACEB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43250"/>
            <a:ext cx="1971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Gán nhãn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E6ABD6-6A86-45A6-8DE6-904E79B55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71875"/>
            <a:ext cx="19716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Proposal còn lại trở thành instance cuối.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0DB456-555F-4EE2-9367-C0791731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51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34A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34A00"/>
                </a:solidFill>
                <a:latin typeface="Arial"/>
                <a:ea typeface="Arial"/>
                <a:cs typeface="Arial"/>
              </a:rPr>
              <a:t>Probability threshold ảnh hưởng recall. NMS threshold ảnh hưởng merge/split. Chọn trên validation, không chọn trên test.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A10AEB-0A7A-46BE-BBD9-043B87E2B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Phải ghi cả hai threshold trong run log Fiji và metadata Python.</a:t>
            </a:r>
          </a:p>
        </p:txBody>
      </p:sp>
    </p:spTree>
    <p:extLst>
      <p:ext uri="{BB962C8B-B14F-4D97-AF65-F5344CB8AC3E}">
        <p14:creationId xmlns:p14="http://schemas.microsoft.com/office/powerpoint/2010/main" val="51035728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FFF1B9-0EC2-4E47-9432-20B890C34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Hai baseline cổ điển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17FA2D-A4E9-4C0E-B8B1-4F6BA5D0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63D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75D6B2-1CB5-42E8-8A31-01D60AD0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143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A74819-DFCF-47BD-A7B1-CDBA210C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66687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56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Otsu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EC950F-2324-4545-8D3E-27DAC5E2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6687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56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Watershed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08F44A-2988-4433-8402-94F04F56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3619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717992-F262-4514-B4BD-F8B6C41B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238375"/>
            <a:ext cx="3619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6A2F47-32A4-45E2-9DFD-AA4782E4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762250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979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Ảnh → Gaussian → Otsu threshold</a:t>
            </a:r>
          </a:p>
          <a:p xmlns:a="http://schemas.openxmlformats.org/drawingml/2006/main">
            <a:pPr algn="ctr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→ morphology → connected components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B907EF-E670-43FD-82CC-2E7E7522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762375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36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Nhanh, đơn giản</a:t>
            </a:r>
          </a:p>
          <a:p xmlns:a="http://schemas.openxmlformats.org/drawingml/2006/main">
            <a:pPr algn="ctr">
              <a:defRPr sz="14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Nhược điểm: gộp object chạm nhau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1F7274-89AC-4E63-99B9-AA4B87D41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762250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767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Otsu mask → EDT → local-max markers</a:t>
            </a:r>
          </a:p>
          <a:p xmlns:a="http://schemas.openxmlformats.org/drawingml/2006/main">
            <a:pPr algn="ctr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→ watershed(−distance)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D05277-5343-44E9-B51A-D9A9F9489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762375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108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Có thể tách blob</a:t>
            </a:r>
          </a:p>
          <a:p xmlns:a="http://schemas.openxmlformats.org/drawingml/2006/main">
            <a:pPr algn="ctr">
              <a:defRPr sz="14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Nhạy marker, nhiễu và min-distance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0B4E27-71AC-4F4A-A7DF-5711B442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So sánh công bằng bằng cùng input, ground truth, split và instance metrics.</a:t>
            </a:r>
          </a:p>
        </p:txBody>
      </p:sp>
    </p:spTree>
    <p:extLst>
      <p:ext uri="{BB962C8B-B14F-4D97-AF65-F5344CB8AC3E}">
        <p14:creationId xmlns:p14="http://schemas.microsoft.com/office/powerpoint/2010/main" val="200936896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D34595-687B-4AA3-B0C9-35A20AC6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Fiji/ImageJ: nền tảng tham chiếu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F02D65-33C0-4E1F-9A0F-26E149237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63D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5A60BC-F36C-4C1B-A34F-B519874A5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143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3D9FA8-4524-486C-8284-60955C94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10A244-382D-4CA7-BBCE-7CD6D9A7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76375"/>
            <a:ext cx="6400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Cài update site StarDist, ghi Fiji và plugin version.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EB243E-BC92-456F-A739-AE6EEDBC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122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AF26D4-CA9E-475E-8D67-95F906FE5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81225"/>
            <a:ext cx="6400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Chọn model phù hợp: fluorescent nuclei hoặc H&amp;E nuclei.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A778FF-AED6-403A-A390-38940EB8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A95A44-247D-4F4D-8F66-B985F4438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86075"/>
            <a:ext cx="6400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Cố định pmin/pmax, probability threshold, overlap threshold, nTiles.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1ED808-5146-4334-AB74-6C9A84707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9092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4EF997-3C54-4AA4-98A5-2908795A7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90925"/>
            <a:ext cx="6400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Xuất Label Image TIFF và ROI ZIP; lưu thời gian và device.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F12610-6F30-49BA-81AD-D56CF0A0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9577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FAB498-106F-415B-9637-3C6DFCBA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95775"/>
            <a:ext cx="6400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Dùng Fiji Recorder để tạo lệnh macro đúng phiên bản plugin.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07C4BA-B3A9-4F80-B1EB-5A38638C0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76375"/>
            <a:ext cx="27146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9"/>
          </a:solidFill>
          <a:ln xmlns:a="http://schemas.openxmlformats.org/drawingml/2006/main" w="9525">
            <a:solidFill>
              <a:srgbClr val="9FD8E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B5DA15-4EAB-4424-8D2E-FF724162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857375"/>
            <a:ext cx="2047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Artefact Fiji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386EA8-2318-4537-8754-029B71519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28875"/>
            <a:ext cx="2143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164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fiji/workflows/</a:t>
            </a:r>
          </a:p>
          <a:p xmlns:a="http://schemas.openxmlformats.org/drawingml/2006/main">
            <a:pPr algn="ctr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stardist_fiji_protocol.md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fiji/macros/</a:t>
            </a:r>
          </a:p>
          <a:p xmlns:a="http://schemas.openxmlformats.org/drawingml/2006/main">
            <a:pPr algn="ctr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stardist_batch.ijm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fiji/run_log_template.csv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544632-4541-4C6E-9088-E991DFFF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Không so sánh screenshot. Python đánh giá trực tiếp label TIFF do Fiji xuất.</a:t>
            </a:r>
          </a:p>
        </p:txBody>
      </p:sp>
    </p:spTree>
    <p:extLst>
      <p:ext uri="{BB962C8B-B14F-4D97-AF65-F5344CB8AC3E}">
        <p14:creationId xmlns:p14="http://schemas.microsoft.com/office/powerpoint/2010/main" val="164486530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BEE585-7821-4292-9520-E2A31BDF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Cài đặt Python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8BB918-6215-4FC0-9809-3F1C164C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63D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F0D27B-84E7-459D-BC8E-E60D238A7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143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A0CB9A-2066-4F63-A420-144E84C9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981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029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Package xla_gr03 tách rõ phần nhóm tự viết và thư viện pretrained.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B10B2C-5B0A-4147-86B0-6FF67C01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4857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33A677-FC0A-420B-A7FB-46B49124F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15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preprocessing.py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273BAA-AFDB-4110-B903-0275BB04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grayscale, percentile normalization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3EBBF3-7FA2-4E6C-90AA-BB9C4F8B0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143125"/>
            <a:ext cx="4857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46D186-CB2C-4507-B088-987FCC372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86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15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baselines.py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37F4F1-12A6-4279-8708-EBB2AF6E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717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Otsu + connected components, Watershed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623BC3-DE4B-4728-9C95-511674A2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4857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AC9465-CB83-48CF-98FF-160098C1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15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geometry.py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250688-2D5B-4A68-B53D-114B02E25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EDT, ray distances, polygon, NMS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CA1D8F-1711-4236-B321-AEE53C3F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86125"/>
            <a:ext cx="4857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2BCF0E-AF4A-4302-9B28-C504AE03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29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15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metrics.py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C9D0F2-297C-4FBC-8E59-74DFA7464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147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IoU, Hungarian matching, AP/PQ/Dice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02C87B-47A1-4050-8FAC-1287049C3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4857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4601AC-F318-4F7C-B8A2-445AEE47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15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stardist_pipeline.py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FE0440-5E5B-4870-9C92-E02548BD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wrapper StarDist pretrained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9FCC46-E17B-4B6C-88DD-5A427AC02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29125"/>
            <a:ext cx="4857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3EE0E3-C6F5-4ED5-A5A4-6FF4DBA2A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572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15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cli.py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C10D5D-CA53-450A-8821-5AE36B89F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8577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segment và evaluate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6FF770-44E6-4B3B-9802-50F458368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Chạy: python scripts/run_experiment.py ... | Test/lint: pytest; ruff check .</a:t>
            </a:r>
          </a:p>
        </p:txBody>
      </p:sp>
    </p:spTree>
    <p:extLst>
      <p:ext uri="{BB962C8B-B14F-4D97-AF65-F5344CB8AC3E}">
        <p14:creationId xmlns:p14="http://schemas.microsoft.com/office/powerpoint/2010/main" val="15803915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105DCDE-474E-4074-A606-4ECB30371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Kết quả demo chạy thật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3FD219-AE1E-4D38-AD0F-2F8AA36EE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63D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47C299-5547-4BEC-8936-DDB09C93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143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ABADDF-0705-4CE1-8A72-AC77E3E09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Một ảnh fluorescence DSB2018 mẫu do StarDist phân phối | 125 ground-truth instances | CPU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03EA17-1F97-4E4C-80FE-84E0BF61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2762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F18E15-6EA1-4BDC-B3BC-DB5DB51B0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2533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Method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653CAB-0F66-42C8-BE87-9B8E2D1D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47875"/>
            <a:ext cx="1476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232A65-CC08-4654-9786-8C188BBD1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238375"/>
            <a:ext cx="1247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AP@.50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FB0A18-E150-4E2E-BED9-C5AAD5A3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047875"/>
            <a:ext cx="13811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E92A95-E9A2-4148-BEF6-9BE5B7009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238375"/>
            <a:ext cx="115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PQ@.50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0288DF-3C97-410A-968B-7A36B1B86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47875"/>
            <a:ext cx="13811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B8CE7D-743D-4E93-8527-BB697A7D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38375"/>
            <a:ext cx="115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95830F-DAA8-4C9B-BE80-8A7BB227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047875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CDDB68-B394-4EB1-A5E5-B4651875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23837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MAE count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51DB02-59F1-4BC1-ACA3-3326299F6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047875"/>
            <a:ext cx="152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86F6A4-B2A4-4A56-AC21-B09A4FFE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238375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Runtime 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23A708-6607-425C-B298-AAF51A88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2762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5DCBAC-DAA2-45F3-B749-C6706EB00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86075"/>
            <a:ext cx="2533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Otsu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C267D8-D8E8-4252-864A-210CAA2C7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95575"/>
            <a:ext cx="1476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3FB044-865B-45F5-9FE2-36207FD03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86075"/>
            <a:ext cx="1247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0.357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7D28DB-D204-4F87-BB3D-F316D9FFC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695575"/>
            <a:ext cx="13811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56AF6B-8DB8-41C1-8760-E2D761D45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886075"/>
            <a:ext cx="115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0.397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C32845-2EBA-4D7F-99F7-D36D22E4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95575"/>
            <a:ext cx="13811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1DC9BC-B4E8-4B96-A815-641605CCE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86075"/>
            <a:ext cx="115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0.843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784F24-6D8C-4A5B-9CE0-95EE96AF8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695575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B5CB52-9CF9-4854-B53D-0C1852B9E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8607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41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EBEA54-492C-4B03-AF6B-A1128529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695575"/>
            <a:ext cx="152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DD382D-6176-412D-AAD3-4877FDDB5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886075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0.022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C95175-0297-4736-9D0F-C959BAE6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43275"/>
            <a:ext cx="2762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4BCB71-B128-41DB-9CE1-A2956CFD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33775"/>
            <a:ext cx="2533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Watershed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FB27CD-946A-4C0D-A38C-9A36D0E41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343275"/>
            <a:ext cx="1476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72DC5D-2A3E-4B8D-9F02-4BFB29FB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33775"/>
            <a:ext cx="1247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0.558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8E74D3-39DE-4E87-8AEC-FD63F59B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3343275"/>
            <a:ext cx="13811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B5706A0-827D-4064-A994-41199DC4C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3533775"/>
            <a:ext cx="115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0.549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5899819-617D-4EE6-A3E4-49D6B4E84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343275"/>
            <a:ext cx="13811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C81E65A-C603-47D1-9EDE-4A10488E9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33775"/>
            <a:ext cx="115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0.843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97A913E-C7DB-42D3-9C52-7295F1C05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343275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FF5CBCF-7CA6-4124-ADA2-0F0930B1C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53377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03A72E1-2F62-4B52-A155-A2FC37D19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343275"/>
            <a:ext cx="152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A9611DA-C1C9-469B-8F8D-7841D0DC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3533775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0.047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5FF5940-F114-4C74-BF9F-71D924F24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90975"/>
            <a:ext cx="2762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E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EDAB8F8-56C3-405B-83DA-A1EE9489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81475"/>
            <a:ext cx="2533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StarDist Python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AE850C1-8DA0-4CD7-9772-C13A30E75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990975"/>
            <a:ext cx="1476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E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9F85ECC-3037-4603-BC4C-2DB2AFD2F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181475"/>
            <a:ext cx="1247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0.944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A799BB5-C559-44E4-BC8F-F472F4098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3990975"/>
            <a:ext cx="13811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E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F8C211A-DE02-4CD2-9200-A7A43CCF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4181475"/>
            <a:ext cx="115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0.827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124461E-2A53-4D3F-B9A8-B5274AE36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990975"/>
            <a:ext cx="13811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E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4EE775A-736D-414D-A85D-30415449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81475"/>
            <a:ext cx="115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0.926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744EFA9-5D2D-4438-98C5-E795D2443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990975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E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F6E6237-B21B-42AD-8B31-C15E613E8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18147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70A8567-83EA-4A26-9C55-164024B5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990975"/>
            <a:ext cx="152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E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A9ACEA4-8130-4119-9F6E-0FB7740D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4181475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0.155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9995F2F-822B-4A0B-B163-8EF947C62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34A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34A00"/>
                </a:solidFill>
                <a:latin typeface="Arial"/>
                <a:ea typeface="Arial"/>
                <a:cs typeface="Arial"/>
              </a:rPr>
              <a:t>StarDist cải thiện tách instance rõ rệt. Dice foreground một mình che khuất phần lớn khác biệt AP/PQ.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42470DB-9E17-4D81-BD1A-96A375EF6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Demo một ảnh, không phải benchmark tổng quát. Full CSV/figures: results/real_demo/.</a:t>
            </a:r>
          </a:p>
        </p:txBody>
      </p:sp>
    </p:spTree>
    <p:extLst>
      <p:ext uri="{BB962C8B-B14F-4D97-AF65-F5344CB8AC3E}">
        <p14:creationId xmlns:p14="http://schemas.microsoft.com/office/powerpoint/2010/main" val="28431599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9176D5-34A8-4B76-9489-242399602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Kết luận và checklist nộp bài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B90138-156F-4021-9E6B-8246071D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63D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552525-5CEA-4874-A016-5B603BDC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143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6B8214-282F-4CB9-930E-55EE47E17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75D98F-4981-43F6-A73C-28DAFF920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76375"/>
            <a:ext cx="944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StarDist kết hợp probability map, star-convex polygon và NMS để tách từng object.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8337FA-E07E-4EDE-BDB6-04773EAD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C07442-A470-46AE-A37F-4D076E92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944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Fiji là mốc tham chiếu; Python tạo pipeline có thể kiểm thử và đánh giá định lượng.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75333C-A0BF-4F6C-BE14-DD0959058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F66330-EBED-4BEB-8745-E50E82D25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05125"/>
            <a:ext cx="944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Otsu và Watershed cho baseline rõ ràng về chất lượng, lỗi merge/split và thời gian.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0E2C9D-189B-4CE7-897E-F7DF1E595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50EC95-2F82-4F88-B9CF-C8E36FD8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944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Chỉ kết luận sau khi chốt dataset, split, log Fiji và bảng metric test.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2D135B-0FA2-45B8-93A1-E8198A96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4191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Trước khi submit LMS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89575A-B494-476A-A366-E216F2F00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539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Điền tên/MSSV/mã nhóm • chạy Fiji và lưu label/log • chạy script metric • thay bảng template bằng số thực • xuất PDF report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248C23-5414-4142-AE75-924DD5D93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Tài liệu chính: Schmidt et al. (2018), ImageJ StarDist plugin, repository XLA_GR03.</a:t>
            </a:r>
          </a:p>
        </p:txBody>
      </p:sp>
    </p:spTree>
    <p:extLst>
      <p:ext uri="{BB962C8B-B14F-4D97-AF65-F5344CB8AC3E}">
        <p14:creationId xmlns:p14="http://schemas.microsoft.com/office/powerpoint/2010/main" val="15670492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2026-10-03T10:10:39.2420000Z</dcterms:created>
  <dcterms:modified xsi:type="dcterms:W3CDTF">2026-10-03T10:10:39.2420000Z</dcterms:modified>
</coreProperties>
</file>