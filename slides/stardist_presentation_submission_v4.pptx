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44ece1d84b48f7" /><Relationship Type="http://schemas.openxmlformats.org/officeDocument/2006/relationships/extended-properties" Target="/docProps/app.xml" Id="Rf616834ecd8644c3" /><Relationship Type="http://schemas.openxmlformats.org/officeDocument/2006/relationships/officeDocument" Target="/ppt/presentation.xml" Id="R9c4e6c1cb85f49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db38c2d1804c37"/>
  </p:sldMasterIdLst>
  <p:notesMasterIdLst>
    <p:notesMasterId xmlns:r="http://schemas.openxmlformats.org/officeDocument/2006/relationships" r:id="R7c930a1cac2c4b28"/>
  </p:notesMasterIdLst>
  <p:sldIdLst>
    <p:sldId xmlns:r="http://schemas.openxmlformats.org/officeDocument/2006/relationships" id="256" r:id="Re0371ee2d0d84df4"/>
    <p:sldId xmlns:r="http://schemas.openxmlformats.org/officeDocument/2006/relationships" id="257" r:id="Rf7e10d7820924e84"/>
    <p:sldId xmlns:r="http://schemas.openxmlformats.org/officeDocument/2006/relationships" id="258" r:id="R3807d8f9b62f4492"/>
    <p:sldId xmlns:r="http://schemas.openxmlformats.org/officeDocument/2006/relationships" id="259" r:id="R0c5cf8cb95b544ff"/>
    <p:sldId xmlns:r="http://schemas.openxmlformats.org/officeDocument/2006/relationships" id="260" r:id="Rb79528187b504ee1"/>
    <p:sldId xmlns:r="http://schemas.openxmlformats.org/officeDocument/2006/relationships" id="261" r:id="Rd100b3aa95744fb5"/>
    <p:sldId xmlns:r="http://schemas.openxmlformats.org/officeDocument/2006/relationships" id="262" r:id="Rd168ab76007b4683"/>
    <p:sldId xmlns:r="http://schemas.openxmlformats.org/officeDocument/2006/relationships" id="263" r:id="R3351c242b4d84d0c"/>
    <p:sldId xmlns:r="http://schemas.openxmlformats.org/officeDocument/2006/relationships" id="264" r:id="R39f84521e12d4728"/>
    <p:sldId xmlns:r="http://schemas.openxmlformats.org/officeDocument/2006/relationships" id="265" r:id="Rca35b2556544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3e86fb74da4ee0" /><Relationship Type="http://schemas.openxmlformats.org/officeDocument/2006/relationships/slideMaster" Target="/ppt/slideMasters/slideMaster1.xml" Id="R54db38c2d1804c37" /><Relationship Type="http://schemas.openxmlformats.org/officeDocument/2006/relationships/notesMaster" Target="/ppt/notesMasters/notesMaster1.xml" Id="R7c930a1cac2c4b28" /><Relationship Type="http://schemas.openxmlformats.org/officeDocument/2006/relationships/presProps" Target="/ppt/presProps.xml" Id="Rb42a60e108ff47a3" /><Relationship Type="http://schemas.openxmlformats.org/officeDocument/2006/relationships/tableStyles" Target="/ppt/tableStyles.xml" Id="R0468d7812e764edb" /><Relationship Type="http://schemas.openxmlformats.org/officeDocument/2006/relationships/slide" Target="/ppt/slides/slide1.xml" Id="Re0371ee2d0d84df4" /><Relationship Type="http://schemas.openxmlformats.org/officeDocument/2006/relationships/slide" Target="/ppt/slides/slide2.xml" Id="Rf7e10d7820924e84" /><Relationship Type="http://schemas.openxmlformats.org/officeDocument/2006/relationships/slide" Target="/ppt/slides/slide3.xml" Id="R3807d8f9b62f4492" /><Relationship Type="http://schemas.openxmlformats.org/officeDocument/2006/relationships/slide" Target="/ppt/slides/slide4.xml" Id="R0c5cf8cb95b544ff" /><Relationship Type="http://schemas.openxmlformats.org/officeDocument/2006/relationships/slide" Target="/ppt/slides/slide5.xml" Id="Rb79528187b504ee1" /><Relationship Type="http://schemas.openxmlformats.org/officeDocument/2006/relationships/slide" Target="/ppt/slides/slide6.xml" Id="Rd100b3aa95744fb5" /><Relationship Type="http://schemas.openxmlformats.org/officeDocument/2006/relationships/slide" Target="/ppt/slides/slide7.xml" Id="Rd168ab76007b4683" /><Relationship Type="http://schemas.openxmlformats.org/officeDocument/2006/relationships/slide" Target="/ppt/slides/slide8.xml" Id="R3351c242b4d84d0c" /><Relationship Type="http://schemas.openxmlformats.org/officeDocument/2006/relationships/slide" Target="/ppt/slides/slide9.xml" Id="R39f84521e12d4728" /><Relationship Type="http://schemas.openxmlformats.org/officeDocument/2006/relationships/slide" Target="/ppt/slides/slide10.xml" Id="Rca35b255654441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d36a4787a2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7f3510fca04b9b" /><Relationship Type="http://schemas.openxmlformats.org/officeDocument/2006/relationships/notesMaster" Target="/ppt/notesMasters/notesMaster1.xml" Id="R53bce20625db42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cae28a4cb2425b" /><Relationship Type="http://schemas.openxmlformats.org/officeDocument/2006/relationships/notesMaster" Target="/ppt/notesMasters/notesMaster1.xml" Id="R5d36e11940bd48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f90c2dc1eb4291" /><Relationship Type="http://schemas.openxmlformats.org/officeDocument/2006/relationships/notesMaster" Target="/ppt/notesMasters/notesMaster1.xml" Id="R892afa2acb1548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d494ea2d0e49de" /><Relationship Type="http://schemas.openxmlformats.org/officeDocument/2006/relationships/notesMaster" Target="/ppt/notesMasters/notesMaster1.xml" Id="R3341da0339e8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dfde3fffc44038" /><Relationship Type="http://schemas.openxmlformats.org/officeDocument/2006/relationships/notesMaster" Target="/ppt/notesMasters/notesMaster1.xml" Id="R636fde8498274e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1d6bee8d3640be" /><Relationship Type="http://schemas.openxmlformats.org/officeDocument/2006/relationships/notesMaster" Target="/ppt/notesMasters/notesMaster1.xml" Id="Rbc43919e00dc47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9d7c26681b42f6" /><Relationship Type="http://schemas.openxmlformats.org/officeDocument/2006/relationships/notesMaster" Target="/ppt/notesMasters/notesMaster1.xml" Id="R8d6d8bf12d9e42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330edf97b44a09" /><Relationship Type="http://schemas.openxmlformats.org/officeDocument/2006/relationships/notesMaster" Target="/ppt/notesMasters/notesMaster1.xml" Id="Rec215228629944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6c90c3d93c4498" /><Relationship Type="http://schemas.openxmlformats.org/officeDocument/2006/relationships/notesMaster" Target="/ppt/notesMasters/notesMaster1.xml" Id="R07c947203e3e49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d24e48f91c490e" /><Relationship Type="http://schemas.openxmlformats.org/officeDocument/2006/relationships/notesMaster" Target="/ppt/notesMasters/notesMaster1.xml" Id="R5f9d45dc20d04e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 (2018); tài liệu repo.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Schmidt et al., Cell Detection with Star-convex Polygons, 2018.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Otsu (1979); Vincent &amp; Soille (1991).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benchmark do nhóm chạy bằng archive DSB2018 do StarDist công bố; Caicedo et al. (2019).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a264a884149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7d39cf230e4a2d" /><Relationship Type="http://schemas.openxmlformats.org/officeDocument/2006/relationships/slideLayout" Target="/ppt/slideLayouts/slideLayout1.xml" Id="R27a71b73a79c4b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a71b73a79c4b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88307eb0842e4" /><Relationship Type="http://schemas.openxmlformats.org/officeDocument/2006/relationships/notesSlide" Target="/ppt/notesSlides/notesSlide1.xml" Id="R3f458b87cb124f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35fe795164cd5" /><Relationship Type="http://schemas.openxmlformats.org/officeDocument/2006/relationships/notesSlide" Target="/ppt/notesSlides/notesSlide2.xml" Id="R57a3d6e0aa8b46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dd3d7e869457f" /><Relationship Type="http://schemas.openxmlformats.org/officeDocument/2006/relationships/notesSlide" Target="/ppt/notesSlides/notesSlide3.xml" Id="Ra7e520df0c1e48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53add307d54b7a" /><Relationship Type="http://schemas.openxmlformats.org/officeDocument/2006/relationships/notesSlide" Target="/ppt/notesSlides/notesSlide4.xml" Id="R994e70755f6f49b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efde414664c88" /><Relationship Type="http://schemas.openxmlformats.org/officeDocument/2006/relationships/notesSlide" Target="/ppt/notesSlides/notesSlide5.xml" Id="R067d2a6e806d43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ac39f2cb14c9a" /><Relationship Type="http://schemas.openxmlformats.org/officeDocument/2006/relationships/notesSlide" Target="/ppt/notesSlides/notesSlide6.xml" Id="R087ca28ebcf247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294b034844a84" /><Relationship Type="http://schemas.openxmlformats.org/officeDocument/2006/relationships/notesSlide" Target="/ppt/notesSlides/notesSlide7.xml" Id="R7ad8ed4e8bf445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0b7eb7cb2408e" /><Relationship Type="http://schemas.openxmlformats.org/officeDocument/2006/relationships/notesSlide" Target="/ppt/notesSlides/notesSlide8.xml" Id="R58d16ccf69784f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5801ad9524ecc" /><Relationship Type="http://schemas.openxmlformats.org/officeDocument/2006/relationships/chart" Target="/ppt/slides/charts/chart1.xml" Id="R263baa10fa3c4e85" /><Relationship Type="http://schemas.openxmlformats.org/officeDocument/2006/relationships/notesSlide" Target="/ppt/notesSlides/notesSlide9.xml" Id="R5b0a6888173347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ca4a4ee174b13" /><Relationship Type="http://schemas.openxmlformats.org/officeDocument/2006/relationships/image" Target="/ppt/media/image.png" Id="Ree1001fbdc9e4486" /><Relationship Type="http://schemas.openxmlformats.org/officeDocument/2006/relationships/notesSlide" Target="/ppt/notesSlides/notesSlide10.xml" Id="R6e763b7fe41648d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AP@0.50</c:v>
          </c:tx>
          <c:spPr>
            <a:solidFill xmlns:a="http://schemas.openxmlformats.org/drawingml/2006/main">
              <a:srgbClr val="1363DF"/>
            </a:solidFill>
          </c:spPr>
          <c:cat>
            <c:strRef>
              <c:f>'Chart Data'!$A$2:$A$4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0.643</c:v>
                </c:pt>
                <c:pt idx="1">
                  <c:v>0.715</c:v>
                </c:pt>
                <c:pt idx="2">
                  <c:v>0.853</c:v>
                </c:pt>
              </c:numCache>
            </c:numRef>
          </c:val>
        </c:ser>
        <c:ser>
          <c:idx val="1"/>
          <c:order val="1"/>
          <c:tx>
            <c:v>PQ@0.50</c:v>
          </c:tx>
          <c:spPr>
            <a:solidFill xmlns:a="http://schemas.openxmlformats.org/drawingml/2006/main">
              <a:srgbClr val="48CAE4"/>
            </a:solidFill>
          </c:spPr>
          <c:cat>
            <c:strRef>
              <c:f>'Chart Data'!$C$2:$C$4</c:f>
              <c:strCache>
                <c:ptCount val="3"/>
                <c:pt idx="0">
                  <c:v>Otsu</c:v>
                </c:pt>
                <c:pt idx="1">
                  <c:v>Watershed</c:v>
                </c:pt>
                <c:pt idx="2">
                  <c:v>StarDist Python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0.627</c:v>
                </c:pt>
                <c:pt idx="1">
                  <c:v>0.677</c:v>
                </c:pt>
                <c:pt idx="2">
                  <c:v>0.785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9BB38-145F-4AEE-9564-B611DD61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PHÂN ĐOẠN TỪNG ĐỐI TƯỢNG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BẰNG STARDIST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7608B-2506-4D0F-AE15-A0A5FDC0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8CA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8CAE4"/>
                </a:solidFill>
                <a:latin typeface="Arial"/>
                <a:ea typeface="Arial"/>
                <a:cs typeface="Arial"/>
              </a:rPr>
              <a:t>Đối chiếu Fiji/ImageJ và cài đặt Python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8439B-AE60-44B1-9637-9587666D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1524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3CD91-E27E-4536-922B-9D737711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Bài tập lớn Xử lý ảnh số | Nhóm 03 | PTIT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677C7-8184-46A4-9F79-4D99CAAE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4E2F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4E2F4"/>
                </a:solidFill>
                <a:latin typeface="Arial"/>
                <a:ea typeface="Arial"/>
                <a:cs typeface="Arial"/>
              </a:rPr>
              <a:t>Thành viên: điền tên và MSSV trước khi nộp</a:t>
            </a:r>
          </a:p>
        </p:txBody>
      </p:sp>
    </p:spTree>
    <p:extLst>
      <p:ext uri="{BB962C8B-B14F-4D97-AF65-F5344CB8AC3E}">
        <p14:creationId xmlns:p14="http://schemas.microsoft.com/office/powerpoint/2010/main" val="11052947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64530-FEF3-43FD-96E4-A7610C18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Bài toán và 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12B44-14B7-404A-8365-2DE07A0B0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1ED38-5EA7-45C6-AA40-8D45E0F3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8D09F-FB1E-4131-A29E-E4B5324D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Instance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CB74E-6A02-4B24-B4BD-6655C4F2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609983-D76A-4C11-9CAE-64E4BB1E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18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Không chỉ nhận diện foreground mà còn gán ID riêng cho từng tế bào.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0C146-EABE-44AB-B995-7B958B5D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D6A0D-4C77-4D95-9F16-354DD372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52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Cần thiết cho đếm tế bào, diện tích, hình dạng và phân tích sinh học.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06107-B004-42AA-B172-6D58296D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24CD06-B20D-46BD-96B7-566092E6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78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68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Khó nhất khi các nhân có biên mờ hoặc chạm nhau.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A7C93-EBE0-4DA9-A105-D86A0B6F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286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DD3DD-7922-4342-9370-F58D8A28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79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FB452-EC71-4C87-A0AA-1EB98427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1. Hiểu StarDist và plugin Fiji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2. Cài đặt pipeline Python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 So sánh với Otsu và Watershed</a:t>
            </a:r>
          </a:p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4. Đánh giá bằng metric instance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D0BB0-9A2B-409C-8448-5E807510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Ground truth là label image: nền = 0, mỗi instance có một ID dương.</a:t>
            </a:r>
          </a:p>
        </p:txBody>
      </p:sp>
    </p:spTree>
    <p:extLst>
      <p:ext uri="{BB962C8B-B14F-4D97-AF65-F5344CB8AC3E}">
        <p14:creationId xmlns:p14="http://schemas.microsoft.com/office/powerpoint/2010/main" val="20345933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B7AB93-6E52-4B04-83DE-55922CAC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StarDist 2D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0AB7C-9F4A-4E90-9C99-D6B0E2E9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46703-EE4C-4BA1-8CAB-F6EE1CD3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CAF79-19BD-4B71-94BC-5A618A96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Mạng CNN/U-Net sinh hai trường dự đoán cho từng pixel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67CE31-5DE2-4042-8A87-0A70E168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F14DE-11A3-44EB-8A68-4E383777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66BEA-3AF2-4EBB-A2E4-340B77E8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Probability 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9FCA56-C8B8-4CF2-A08A-9D02765A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Score cao ở tâm object, thấp ở biên và nền.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E6DA4-20DC-4924-B812-ADD5F8D7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A3ED21-B9BE-4F9F-B6D6-77A0D2E9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3B093-96EA-4B36-9894-4121569C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Ray distances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07AE9-6535-498E-864A-F7ED1498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5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 khoảng cách đến biên theo các hướng cố định.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6A713-097A-4D5C-96F3-6D906628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98559-1E02-4444-A966-3E1DE0CC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F9DF5-D405-4878-AEC8-C19B786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Polygon + NMS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60E9C-6F70-4F13-BF60-05C50106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Giải mã proposal và giữ một polygon cho mỗi object.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8415B-1978-4B35-A2A1-3B1BEDE3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F20A2B-224F-4D33-90F0-09D65C22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CCB13-7FEC-49D8-9384-6D06F350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Label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40BD5-B427-4A15-A09E-24AC432B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24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Rasterize polygon thành nhãn instance để đo metric.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65020E-D611-4E39-994F-6C32E82C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StarDist paper dùng 32 tia trong các thí nghiệm 2D. Nguồn: Schmidt et al., 2018.</a:t>
            </a:r>
          </a:p>
        </p:txBody>
      </p:sp>
    </p:spTree>
    <p:extLst>
      <p:ext uri="{BB962C8B-B14F-4D97-AF65-F5344CB8AC3E}">
        <p14:creationId xmlns:p14="http://schemas.microsoft.com/office/powerpoint/2010/main" val="10221621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0B85A-BC9A-4DF3-AEFC-7C818BE4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Biểu diễn star-convex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9957C-691F-481A-B4F1-5BDD1F17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D7904-A3E7-4EDC-A4A6-DA7FA36A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918B8-B7F6-49E5-9C19-AEDB1691C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Một object star-convex cho phép nối từ tâm đến mọi điểm biên mà không đi ra ngoài object.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BBEC9-BF79-489B-B4E5-0C413CF9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9525">
            <a:solidFill>
              <a:srgbClr val="1363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350E4-08D0-4AFF-A96C-74E0483D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813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Tâm 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CB4CE5-AFDC-41C4-A725-212F29C1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Các tia r₀ … rₖ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A44A40-9EFE-4122-86E4-87815C89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vₖ(p) = p + r̂ₖ(p)(cos θₖ, sin θₖ)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3FD6C0-AEE6-49B1-B3A2-93675BF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3850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Mỗi pixel foreground có một vector khoảng cách.</a:t>
            </a:r>
          </a:p>
          <a:p xmlns:a="http://schemas.openxmlformats.org/drawingml/2006/main">
            <a:pPr algn="l">
              <a:defRPr sz="172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Nối các đầu tia tạo một đa giác đại diện cho instance.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A8FCD-C182-4375-9481-7B4F0DE0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815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34A00"/>
                </a:solidFill>
                <a:latin typeface="Arial"/>
                <a:ea typeface="Arial"/>
                <a:cs typeface="Arial"/>
              </a:rPr>
              <a:t>Giới hạn: hình vòng, nhiều nhánh hoặc lõm sâu có thể không phù hợp giả thiết.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E93E1-653B-4DD5-96F0-FB5F6E45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Chi tiết công thức và phân tích sai số: docs/01_ly_thuyet_stardist.md.</a:t>
            </a:r>
          </a:p>
        </p:txBody>
      </p:sp>
    </p:spTree>
    <p:extLst>
      <p:ext uri="{BB962C8B-B14F-4D97-AF65-F5344CB8AC3E}">
        <p14:creationId xmlns:p14="http://schemas.microsoft.com/office/powerpoint/2010/main" val="10934561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12F27A-4F47-489A-88E8-48A3208E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Non-Maximum Suppression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E0564-F507-461A-829E-CD289DE5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D8F6E-8195-4629-9B04-B6D25058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6509E-928C-45E6-B43A-DEED2847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CNN tạo nhiều proposal trùng cho một object. NMS chọn proposal có score cao trước.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29146-B157-495A-9828-2679B48D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CF5EB-0208-40AC-A506-43E2C8C4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BBCC5-C97A-4689-85AE-AA880F46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Lọc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13E8A-A6B6-4347-B9A7-0431D367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Giữ pixel có probability ≥ ngưỡng.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A6510-CF7D-4489-90BD-5EA45C65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B69B1-30BF-424E-8F55-DEA28DBE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95C0EC-2C02-4A35-84A4-C4DFE05C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Sắp theo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17347-4285-42AF-AE51-321EF8D2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xác suất cao được xử lý trước.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A52C6-21ED-4064-92D5-128D6324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A2124-FA42-4953-8FC1-DA322BEC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FE0704-8C3C-4E01-BA24-8DFDE0F6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So overlap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11E71B-3630-4C7B-AEAB-03A632A2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Loại proposal chồng lấn quá ngưỡng NMS.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C66BED-60AD-4EF5-95DD-0989E911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28875"/>
            <a:ext cx="24288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0FC53-E390-4614-B235-C46DB263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9A3CBC-BDDE-4AF8-9658-22802499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1971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Gán nhãn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C6DF83-0918-4B38-AEE6-D74695B2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71875"/>
            <a:ext cx="19716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Proposal còn lại trở thành instance cuối.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9CCF54-CC33-4CA6-BCEB-8463A508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1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Probability threshold ảnh hưởng recall. NMS threshold ảnh hưởng merge/split. Chọn trên validation, không chọn trên test.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7C7676-0F20-4936-8644-25020CE6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Phải ghi cả hai threshold trong run log Fiji và metadata Python.</a:t>
            </a:r>
          </a:p>
        </p:txBody>
      </p:sp>
    </p:spTree>
    <p:extLst>
      <p:ext uri="{BB962C8B-B14F-4D97-AF65-F5344CB8AC3E}">
        <p14:creationId xmlns:p14="http://schemas.microsoft.com/office/powerpoint/2010/main" val="6557713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BBFF6-4171-44C6-9E67-E2082979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Hai baseline cổ điển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44FEB-15E8-4DF9-B820-EFC798A7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254A0-FFAF-44AA-95ED-FC269B51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FB605-58A7-4365-A2C1-C44FC453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45B33-14B5-4C01-B6E9-D2A4566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56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938B5E-46E1-4C47-A027-C9A7229F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E22C5-0529-4985-88AA-C8635715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38375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59976-8E38-4E2F-93CC-412261CA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979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Ảnh → Gaussian → Otsu threshold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morphology → connected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DB0B7-847D-46E2-9CB9-251D545F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6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Nhanh, đơn giản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Nhược điểm: gộp object chạm nhau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B0CCE-0FAA-4C2C-A7FE-15EF5EA4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622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767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mask → EDT → local-max markers</a:t>
            </a:r>
          </a:p>
          <a:p xmlns:a="http://schemas.openxmlformats.org/drawingml/2006/main">
            <a:pPr algn="ctr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→ watershed(−distance)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EDCF4-DABD-4E06-870C-652FD4FE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623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108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Có thể tách blob</a:t>
            </a:r>
          </a:p>
          <a:p xmlns:a="http://schemas.openxmlformats.org/drawingml/2006/main">
            <a:pPr algn="ctr">
              <a:defRPr sz="14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Nhạy marker, nhiễu và min-distance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D7CD2-07E1-4B22-BC8E-CABD2306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So sánh công bằng bằng cùng input, ground truth, split và instance metrics.</a:t>
            </a:r>
          </a:p>
        </p:txBody>
      </p:sp>
    </p:spTree>
    <p:extLst>
      <p:ext uri="{BB962C8B-B14F-4D97-AF65-F5344CB8AC3E}">
        <p14:creationId xmlns:p14="http://schemas.microsoft.com/office/powerpoint/2010/main" val="465845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60775F-FDAB-4D01-B3A5-EC2D3591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Fiji/ImageJ: nền tảng tham chiếu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58BE4-FE82-48F6-91B7-F17DCD93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1314A-058A-4BDF-B054-B1F431AA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20C52-EFB9-4868-BF6F-B275A56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C8536-7D74-4628-9E66-A840F888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Cài update site StarDist, ghi Fiji và plugin version.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CB5FE-204B-43F3-84E0-74E876F5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015EAB-653E-41EE-8B33-BE63B516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Chọn model phù hợp: fluorescent nuclei hoặc H&amp;E nuclei.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02B3E-221E-4251-8E09-81787B21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53184-891F-44E8-8B2D-3C6F1C16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8607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Cố định pmin/pmax, probability threshold, overlap threshold, nTiles.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5152D-E86F-4F9B-8F89-4ADEA530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2CCFB-2467-49AB-A012-368C4BAA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9092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Xuất Label Image TIFF và ROI ZIP; lưu thời gian và device.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62F00-F3EE-4E14-95DA-2799C1CB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7B6A1-52A3-48D4-973C-4A174624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95775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Dùng Fiji Recorder để tạo lệnh macro đúng phiên bản plugin.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D0FBC-D7CF-4F78-BD0F-7D6BC9FA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271462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9"/>
          </a:solidFill>
          <a:ln xmlns:a="http://schemas.openxmlformats.org/drawingml/2006/main" w="9525">
            <a:solidFill>
              <a:srgbClr val="9FD8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467E6B-A329-49F3-A788-4C8E1766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5737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Artefact Fiji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BE042-01C2-4614-B42E-57A9E6C8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2143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fiji/workflows/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stardist_fiji_protocol.md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fiji/macros/</a:t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stardist_batch.ijm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35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fiji/run_log_template.csv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1B73F-C66B-41A7-8150-3244F584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Không so sánh screenshot. Python đánh giá trực tiếp label TIFF do Fiji xuất.</a:t>
            </a:r>
          </a:p>
        </p:txBody>
      </p:sp>
    </p:spTree>
    <p:extLst>
      <p:ext uri="{BB962C8B-B14F-4D97-AF65-F5344CB8AC3E}">
        <p14:creationId xmlns:p14="http://schemas.microsoft.com/office/powerpoint/2010/main" val="11590256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63215-665A-4FBD-847C-4CFBC575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Cài đặt Python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53310-4670-471F-9E10-4522B227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635C6-737A-4361-9395-CA486022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67CB9-7CC6-4983-8810-834DED52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29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Package xla_gr03 tách rõ phần nhóm tự viết và thư viện pretrained.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2C83D-9462-4BB6-89EF-A1F24481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56D41-AC9E-4737-8C76-B300A817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preprocessing.py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06118-C855-4C2F-8F5D-96175D1A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grayscale, percentile normalization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868A0C-1252-409F-A60D-88ED78C1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43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38124-1C67-4E8B-8E51-9A372D83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baselines.py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79836-C872-4B1F-A6D7-2296C59B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 + connected components, Watershed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89BF8-4717-4A7F-952E-EE5F4E8D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BB4A2-5FA2-465D-AA78-093B7186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geometry.py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033BD0-A4FE-45B9-B7B4-EDEEB19C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EDT, ray distances, polygon, NMS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416B24-4C63-430D-99E1-DBA22A82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86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63BD9-8552-4786-9755-7E44998F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29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metrics.py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36DAA7-3BA3-4665-9111-15713162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IoU, Hungarian matching, AP/PQ/Dice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5F890-06FB-4CA3-8828-A3B677C4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3407BF-12B9-4184-8184-3FC39D9C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stardist_pipeline.py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081C7-3C28-42D9-A25E-1C3E8F87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wrapper StarDist pretrained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36868-9ED1-43C7-902E-4076ABC5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429125"/>
            <a:ext cx="485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0D497F-AFE2-416D-94E1-12C2C556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572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cli.py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C2F7A-EC23-413C-8F3A-2C1274EF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57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segment và evaluate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B6F786-BCDF-4D82-8124-D87E6318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Chạy: python scripts/run_experiment.py ... | Test/lint: pytest; ruff check .</a:t>
            </a:r>
          </a:p>
        </p:txBody>
      </p:sp>
    </p:spTree>
    <p:extLst>
      <p:ext uri="{BB962C8B-B14F-4D97-AF65-F5344CB8AC3E}">
        <p14:creationId xmlns:p14="http://schemas.microsoft.com/office/powerpoint/2010/main" val="864971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182402-C0A8-45F0-B3B1-7DB0E603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Benchmark DSB2018: 50 ảnh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191C4-271D-4411-8E4A-7759A08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2DFCD-F9D4-43A8-9C83-39B08A5D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4EAFEC-4A24-4324-BC4E-456C506B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Watershed chọn min-distance = 9 trên 30 ảnh train. StarDist dùng model default threshold, không tune trên test.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561975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63baa10fa3c4e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F3CF0-A153-4AB2-BFF0-47FF27C4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64ED3-F29D-4152-BBA5-7AEA0CB6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3362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B01B59-D6B3-4D68-8C6F-75FF0189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4312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FF7BFD-BB54-424C-9132-A85A9FCE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AP@.50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512C2-E4F0-44D1-9B73-964E8EF2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4312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5209D-8A34-4969-AAC8-2D9D6B9E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33362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PQ@.50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BDD98-0D31-43F9-973C-804668F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43125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00FF5-01B6-42B7-8E40-4B15E9CA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3362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F7ED8A-9B82-4294-AA29-3FDCBCC9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143125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FC65D-7AF3-4B35-9350-2848739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33362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263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14518-BA00-4856-89E8-605A0D5C6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2D65D-32AE-417E-ACF5-290B6976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527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Otsu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B3EC4-C498-4166-94C0-DF4204B8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6225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E7AB36-FD3C-49F0-A846-FD7CC700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527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.643±.238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5D6D3D-3B46-4280-8C23-063AB7A5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46461-7018-4B2A-B577-0CADFC9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5275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.627±.208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DC4DE-2EA9-4928-92CF-5243E564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62250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ECF1C-F495-4FAF-B9BE-5FD17522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5275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.895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07A4F9-5792-4C13-B4B9-CFDCB2DC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62250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BBB1CA-DC95-424D-9C8F-25777981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952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15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14.06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E76B1-D5E1-4F46-B521-59081691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0F85BC-7ADF-4D40-B44E-46DD60DC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71875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Watershed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B92AEA-7D7D-4C76-903D-D3385CC7B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8137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D334A3-186E-4839-A90D-99F8D5B7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718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.715±.199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894E8-D699-4155-A933-ACE66B98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81375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E17450-80CD-4B70-90CA-01F2A148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71875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.677±.166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71EE63-F149-4B84-8607-CD46C3B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381375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D0FEEB-1B41-4552-B56E-5EDCB513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71875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.894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F27A38-28DC-4944-9B17-BF6AD3A8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3381375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0FCF20-A4F4-496A-800E-E7790AE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35718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4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6.94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45603C-367C-4740-AA2B-0A286907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1371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564713-890D-49CB-BD51-BD1503EB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910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Python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6871AF-47E1-42F2-B7F2-1DB68022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0EB70-16DB-4E29-80F6-BA0F8FEB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910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.853±.120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225341-9F72-4E29-A4FF-F5A332A2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00500"/>
            <a:ext cx="9906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9D83EC-B6D7-40C0-9A1D-39ED50F5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1910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.785±.110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402CED-F3BC-4547-A17E-94413B84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000500"/>
            <a:ext cx="9144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3A6284-C766-444A-AF6E-D40CAE73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91000"/>
            <a:ext cx="800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.916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287393-8352-4888-902D-5031C299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000500"/>
            <a:ext cx="4953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CFE0F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1147AE-FE85-4E4A-9855-B279E4E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4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3.44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CC0AF0-99EB-4E36-8D43-14F56CE0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34A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4A00"/>
                </a:solidFill>
                <a:latin typeface="Arial"/>
                <a:ea typeface="Arial"/>
                <a:cs typeface="Arial"/>
              </a:rPr>
              <a:t>StarDist tăng AP/PQ và giảm sai số đếm, với đổi lại là runtime CPU 0.109 s/ảnh.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005194-40A5-47CC-864A-7AEEACEA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Mean ± SD trên 50 test images. CSV: results/dsb2018_benchmark/summary_metrics.csv.</a:t>
            </a:r>
          </a:p>
        </p:txBody>
      </p:sp>
    </p:spTree>
    <p:extLst>
      <p:ext uri="{BB962C8B-B14F-4D97-AF65-F5344CB8AC3E}">
        <p14:creationId xmlns:p14="http://schemas.microsoft.com/office/powerpoint/2010/main" val="1563877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637E2-2A83-4956-B929-0B8B342A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1F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A"/>
                </a:solidFill>
                <a:latin typeface="Arial"/>
                <a:ea typeface="Arial"/>
                <a:cs typeface="Arial"/>
              </a:rPr>
              <a:t>Kết luận và case định tính trung vị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DF55B-6F44-43D2-A37D-CCC2463B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63D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22FC0-345F-4705-A7DC-4DED629D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143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261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5F94A-0042-46C9-AC8B-19A74D1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DD5A1-5E8D-41E9-B01E-2181B3C4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66800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2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StarDist tăng AP@.50/PQ và giảm MAE đếm trên 50 ảnh test; Dice foreground riêng lẻ không đủ nói lên chất lượng instance.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9F9AB-C87A-4427-8C30-32F5DBCC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71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63D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63DF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E33660-F599-49AE-AF47-B29A36FB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09725"/>
            <a:ext cx="1040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8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13D"/>
                </a:solidFill>
                <a:latin typeface="Arial"/>
                <a:ea typeface="Arial"/>
                <a:cs typeface="Arial"/>
              </a:rPr>
              <a:t>Case trung vị bên dưới cho thấy Otsu thường merge nhân chạm nhau, Watershed cải thiện nhờ marker, StarDist bám ground truth sát hơn.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6502EE-ABC0-403C-AD8D-C94C5D73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0858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FE0F5"/>
            </a:solidFill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1001fbdc9e4486"/>
          <a:stretch xmlns:a="http://schemas.openxmlformats.org/drawingml/2006/main"/>
        </p:blipFill>
        <p:spPr>
          <a:xfrm xmlns:a="http://schemas.openxmlformats.org/drawingml/2006/main">
            <a:off x="726361" y="2352675"/>
            <a:ext cx="10739277" cy="22288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6CB5B-FE96-4ED6-8C2B-7FA261A0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213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3D"/>
                </a:solidFill>
                <a:latin typeface="Arial"/>
                <a:ea typeface="Arial"/>
                <a:cs typeface="Arial"/>
              </a:rPr>
              <a:t>Chốt nộp bài: điền tên/MSSV/mã nhóm • chạy Fiji trên đúng input và lưu Label Image/ROI/log • xuất PDF report.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81481-340E-45B8-A880-CF95C9E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16B"/>
                </a:solidFill>
                <a:latin typeface="Arial"/>
                <a:ea typeface="Arial"/>
                <a:cs typeface="Arial"/>
              </a:rPr>
              <a:t>Evidence: results/dsb2018_benchmark/figures/qualitative_median.png; Fiji cần chạy đối chiếu thực tế.</a:t>
            </a:r>
          </a:p>
        </p:txBody>
      </p:sp>
    </p:spTree>
    <p:extLst>
      <p:ext uri="{BB962C8B-B14F-4D97-AF65-F5344CB8AC3E}">
        <p14:creationId xmlns:p14="http://schemas.microsoft.com/office/powerpoint/2010/main" val="694985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2026-10-03T14:22:39.6260000Z</dcterms:created>
  <dcterms:modified xsi:type="dcterms:W3CDTF">2026-10-03T14:22:39.6260000Z</dcterms:modified>
</coreProperties>
</file>