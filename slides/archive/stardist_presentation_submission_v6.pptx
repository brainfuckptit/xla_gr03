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a0df9a35e24d31" /><Relationship Type="http://schemas.openxmlformats.org/officeDocument/2006/relationships/extended-properties" Target="/docProps/app.xml" Id="R50ba102b68124a41" /><Relationship Type="http://schemas.openxmlformats.org/officeDocument/2006/relationships/officeDocument" Target="/ppt/presentation.xml" Id="R5caef8b448cf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766b7c6d84f39"/>
  </p:sldMasterIdLst>
  <p:notesMasterIdLst>
    <p:notesMasterId xmlns:r="http://schemas.openxmlformats.org/officeDocument/2006/relationships" r:id="R50d5bbe8df1c4267"/>
  </p:notesMasterIdLst>
  <p:sldIdLst>
    <p:sldId xmlns:r="http://schemas.openxmlformats.org/officeDocument/2006/relationships" id="256" r:id="R84e9ad43cd6f4994"/>
    <p:sldId xmlns:r="http://schemas.openxmlformats.org/officeDocument/2006/relationships" id="257" r:id="Rafb98563bd5f4ebe"/>
    <p:sldId xmlns:r="http://schemas.openxmlformats.org/officeDocument/2006/relationships" id="258" r:id="Rb64a533ce8b04bce"/>
    <p:sldId xmlns:r="http://schemas.openxmlformats.org/officeDocument/2006/relationships" id="259" r:id="Racf5bec28cc249dd"/>
    <p:sldId xmlns:r="http://schemas.openxmlformats.org/officeDocument/2006/relationships" id="260" r:id="Re6668e7de13c4717"/>
    <p:sldId xmlns:r="http://schemas.openxmlformats.org/officeDocument/2006/relationships" id="261" r:id="Re2d376724187443c"/>
    <p:sldId xmlns:r="http://schemas.openxmlformats.org/officeDocument/2006/relationships" id="262" r:id="Rc0b79ddfa418421a"/>
    <p:sldId xmlns:r="http://schemas.openxmlformats.org/officeDocument/2006/relationships" id="263" r:id="R2bf241ac578b418b"/>
    <p:sldId xmlns:r="http://schemas.openxmlformats.org/officeDocument/2006/relationships" id="264" r:id="R7a06e04f556145aa"/>
    <p:sldId xmlns:r="http://schemas.openxmlformats.org/officeDocument/2006/relationships" id="265" r:id="R45b5c17d96c3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9179ceca94ccb" /><Relationship Type="http://schemas.openxmlformats.org/officeDocument/2006/relationships/slideMaster" Target="/ppt/slideMasters/slideMaster1.xml" Id="R64e766b7c6d84f39" /><Relationship Type="http://schemas.openxmlformats.org/officeDocument/2006/relationships/notesMaster" Target="/ppt/notesMasters/notesMaster1.xml" Id="R50d5bbe8df1c4267" /><Relationship Type="http://schemas.openxmlformats.org/officeDocument/2006/relationships/presProps" Target="/ppt/presProps.xml" Id="Re4a95e6e73274096" /><Relationship Type="http://schemas.openxmlformats.org/officeDocument/2006/relationships/tableStyles" Target="/ppt/tableStyles.xml" Id="Rdef6f40b95d943d7" /><Relationship Type="http://schemas.openxmlformats.org/officeDocument/2006/relationships/slide" Target="/ppt/slides/slide1.xml" Id="R84e9ad43cd6f4994" /><Relationship Type="http://schemas.openxmlformats.org/officeDocument/2006/relationships/slide" Target="/ppt/slides/slide2.xml" Id="Rafb98563bd5f4ebe" /><Relationship Type="http://schemas.openxmlformats.org/officeDocument/2006/relationships/slide" Target="/ppt/slides/slide3.xml" Id="Rb64a533ce8b04bce" /><Relationship Type="http://schemas.openxmlformats.org/officeDocument/2006/relationships/slide" Target="/ppt/slides/slide4.xml" Id="Racf5bec28cc249dd" /><Relationship Type="http://schemas.openxmlformats.org/officeDocument/2006/relationships/slide" Target="/ppt/slides/slide5.xml" Id="Re6668e7de13c4717" /><Relationship Type="http://schemas.openxmlformats.org/officeDocument/2006/relationships/slide" Target="/ppt/slides/slide6.xml" Id="Re2d376724187443c" /><Relationship Type="http://schemas.openxmlformats.org/officeDocument/2006/relationships/slide" Target="/ppt/slides/slide7.xml" Id="Rc0b79ddfa418421a" /><Relationship Type="http://schemas.openxmlformats.org/officeDocument/2006/relationships/slide" Target="/ppt/slides/slide8.xml" Id="R2bf241ac578b418b" /><Relationship Type="http://schemas.openxmlformats.org/officeDocument/2006/relationships/slide" Target="/ppt/slides/slide9.xml" Id="R7a06e04f556145aa" /><Relationship Type="http://schemas.openxmlformats.org/officeDocument/2006/relationships/slide" Target="/ppt/slides/slide10.xml" Id="R45b5c17d96c3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e7094a019a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be4e59d55e4615" /><Relationship Type="http://schemas.openxmlformats.org/officeDocument/2006/relationships/notesMaster" Target="/ppt/notesMasters/notesMaster1.xml" Id="Radd5d66ffa9144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1bdfd7e9e642f2" /><Relationship Type="http://schemas.openxmlformats.org/officeDocument/2006/relationships/notesMaster" Target="/ppt/notesMasters/notesMaster1.xml" Id="R43b40b40fa4d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c5a24e77b14afa" /><Relationship Type="http://schemas.openxmlformats.org/officeDocument/2006/relationships/notesMaster" Target="/ppt/notesMasters/notesMaster1.xml" Id="R6dc02e856ead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3e46aa88d42a1" /><Relationship Type="http://schemas.openxmlformats.org/officeDocument/2006/relationships/notesMaster" Target="/ppt/notesMasters/notesMaster1.xml" Id="R91228f69a8dc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6eac79366a4f9a" /><Relationship Type="http://schemas.openxmlformats.org/officeDocument/2006/relationships/notesMaster" Target="/ppt/notesMasters/notesMaster1.xml" Id="R37cae94182a6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326b1095e4b4e" /><Relationship Type="http://schemas.openxmlformats.org/officeDocument/2006/relationships/notesMaster" Target="/ppt/notesMasters/notesMaster1.xml" Id="Re85f10c7a21543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69ea102ed45e9" /><Relationship Type="http://schemas.openxmlformats.org/officeDocument/2006/relationships/notesMaster" Target="/ppt/notesMasters/notesMaster1.xml" Id="R7fcd209c80c04d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a490833c1b49c6" /><Relationship Type="http://schemas.openxmlformats.org/officeDocument/2006/relationships/notesMaster" Target="/ppt/notesMasters/notesMaster1.xml" Id="Rd3382e773c9541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8e4b14cef94e57" /><Relationship Type="http://schemas.openxmlformats.org/officeDocument/2006/relationships/notesMaster" Target="/ppt/notesMasters/notesMaster1.xml" Id="R8b51b8cda4d141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c94446c5ca4cad" /><Relationship Type="http://schemas.openxmlformats.org/officeDocument/2006/relationships/notesMaster" Target="/ppt/notesMasters/notesMaster1.xml" Id="Rbdffd8473df6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al., Cell Detection with Star-convex Polygons, 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Vincent &amp; Soille (1991).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benchmark do nhóm chạy bằng archive DSB2018 do StarDist công bố; Caicedo et al. (2019).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f05e4d179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0e08488fe944ad" /><Relationship Type="http://schemas.openxmlformats.org/officeDocument/2006/relationships/slideLayout" Target="/ppt/slideLayouts/slideLayout1.xml" Id="R20286c1db6e0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286c1db6e0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3185176db49d8" /><Relationship Type="http://schemas.openxmlformats.org/officeDocument/2006/relationships/notesSlide" Target="/ppt/notesSlides/notesSlide1.xml" Id="Rfb409c7ebed5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4ffabf0c84277" /><Relationship Type="http://schemas.openxmlformats.org/officeDocument/2006/relationships/notesSlide" Target="/ppt/notesSlides/notesSlide2.xml" Id="R1c77c72fe6dd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5a59596d54ec4" /><Relationship Type="http://schemas.openxmlformats.org/officeDocument/2006/relationships/notesSlide" Target="/ppt/notesSlides/notesSlide3.xml" Id="R9741e2adf8cf47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d45430ca54ddf" /><Relationship Type="http://schemas.openxmlformats.org/officeDocument/2006/relationships/notesSlide" Target="/ppt/notesSlides/notesSlide4.xml" Id="R26702a338d8d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25bd0453e4795" /><Relationship Type="http://schemas.openxmlformats.org/officeDocument/2006/relationships/notesSlide" Target="/ppt/notesSlides/notesSlide5.xml" Id="Refb97903cc6343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0308067c4ac2" /><Relationship Type="http://schemas.openxmlformats.org/officeDocument/2006/relationships/notesSlide" Target="/ppt/notesSlides/notesSlide6.xml" Id="R46eaca8afc8b48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fa471e3634066" /><Relationship Type="http://schemas.openxmlformats.org/officeDocument/2006/relationships/image" Target="/ppt/media/image.png" Id="R547bdff9294a4327" /><Relationship Type="http://schemas.openxmlformats.org/officeDocument/2006/relationships/notesSlide" Target="/ppt/notesSlides/notesSlide7.xml" Id="Rac79e0e8e9c041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9900688ea497a" /><Relationship Type="http://schemas.openxmlformats.org/officeDocument/2006/relationships/notesSlide" Target="/ppt/notesSlides/notesSlide8.xml" Id="Rf958966d128a45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517444ca747a4" /><Relationship Type="http://schemas.openxmlformats.org/officeDocument/2006/relationships/chart" Target="/ppt/slides/charts/chart1.xml" Id="Rbf93eda571e24628" /><Relationship Type="http://schemas.openxmlformats.org/officeDocument/2006/relationships/notesSlide" Target="/ppt/notesSlides/notesSlide9.xml" Id="Rf4e4220a672b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375aee8c432f" /><Relationship Type="http://schemas.openxmlformats.org/officeDocument/2006/relationships/image" Target="/ppt/media/image2.png" Id="R66edd9ac6f154331" /><Relationship Type="http://schemas.openxmlformats.org/officeDocument/2006/relationships/notesSlide" Target="/ppt/notesSlides/notesSlide10.xml" Id="R1ede9e367f3143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AP@0.50</c:v>
          </c:tx>
          <c:spPr>
            <a:solidFill xmlns:a="http://schemas.openxmlformats.org/drawingml/2006/main">
              <a:srgbClr val="1363DF"/>
            </a:solidFill>
          </c:spPr>
          <c:cat>
            <c:strRef>
              <c:f>'Chart Data'!$A$2:$A$4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0.643</c:v>
                </c:pt>
                <c:pt idx="1">
                  <c:v>0.715</c:v>
                </c:pt>
                <c:pt idx="2">
                  <c:v>0.853</c:v>
                </c:pt>
              </c:numCache>
            </c:numRef>
          </c:val>
        </c:ser>
        <c:ser>
          <c:idx val="1"/>
          <c:order val="1"/>
          <c:tx>
            <c:v>PQ@0.50</c:v>
          </c:tx>
          <c:spPr>
            <a:solidFill xmlns:a="http://schemas.openxmlformats.org/drawingml/2006/main">
              <a:srgbClr val="48CAE4"/>
            </a:solidFill>
          </c:spPr>
          <c:cat>
            <c:strRef>
              <c:f>'Chart Data'!$C$2:$C$4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0.627</c:v>
                </c:pt>
                <c:pt idx="1">
                  <c:v>0.677</c:v>
                </c:pt>
                <c:pt idx="2">
                  <c:v>0.785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ABE69-E052-410F-9313-177460D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455C1-5DF2-45DF-B969-9006048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DC20-F354-4785-AED8-51382015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68CC7-EC97-4B51-8457-9F01E692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0F0A7-FB2D-47C7-B141-E4AF852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Thành viên: điền tên và MSSV trước khi nộp</a:t>
            </a:r>
          </a:p>
        </p:txBody>
      </p:sp>
    </p:spTree>
    <p:extLst>
      <p:ext uri="{BB962C8B-B14F-4D97-AF65-F5344CB8AC3E}">
        <p14:creationId xmlns:p14="http://schemas.microsoft.com/office/powerpoint/2010/main" val="663205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1E84E-3B97-4AFA-A65D-53324A1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D37DE-1FF0-4C7F-8256-4430CA7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40DFE-E5AF-4929-B3E7-C899E5AC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44C6-2235-4A63-B81D-F84D4F6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75EFF-240A-4264-96A6-16567418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52EB8-E056-4BFC-A82B-8EDB0D6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1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chỉ nhận diện foreground mà còn gán ID riêng cho từng tế bào.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B0D03-F9FF-4BE1-A8A5-E735ABA4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D778-ECE2-4225-B84A-68AFD15D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Cần thiết cho đếm tế bào, diện tích, hình dạng và phân tích sinh học.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35217-19EC-4A8B-9E58-96ED93D7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37ECC-116A-473B-8EA8-7D17AD86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Khó nhất khi các nhân có biên mờ hoặc chạm nhau.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BE774-E953-4816-B3CF-5F7428E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0341A-4958-4330-8806-6146C8A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E5F9A-F868-4FAD-B9A3-4B4509D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Hiểu StarDist và plugin Fiji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Cài đặt pipeline Python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So sánh với Otsu và Watershed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Đánh giá bằng metric instance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9D42A-BF8A-4407-B598-626DA83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Ground truth là label image: nền = 0, mỗi instance có một ID dương.</a:t>
            </a:r>
          </a:p>
        </p:txBody>
      </p:sp>
    </p:spTree>
    <p:extLst>
      <p:ext uri="{BB962C8B-B14F-4D97-AF65-F5344CB8AC3E}">
        <p14:creationId xmlns:p14="http://schemas.microsoft.com/office/powerpoint/2010/main" val="16138428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45B7B-565D-49B2-B202-F9CC713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44671-224F-43FD-852A-C96CC6E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DED2-C151-41D7-9630-048CA3CF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0F483-C65E-4C26-A936-E907AE6C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Mạng CNN/U-Net sinh hai trường dự đoán cho từng pixel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E2010-D31D-49F4-8F28-B805F063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D3CCD-BD55-4E41-A79E-3B402079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05E0C-8D6C-4880-945B-6F5523B3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4E77-1C1C-4150-AA56-9029EBC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 cao ở tâm object, thấp ở biên và nền.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4F090-48DC-4F36-9A9F-0D378A4F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B5F7-D972-4341-B450-8DEB686B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B7433-EC7F-4143-A7DD-5B4049C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Ray distances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0E38B-A796-4522-B5D1-B2D4358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khoảng cách đến biên theo các hướng cố định.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B6842-D79F-44B2-9900-8A1E5E66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B9ABA-9F23-4322-868E-2B95D0F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2245B-6F64-45CB-90F8-A2FB2B3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Polygon + NMS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B7CD6-4A6A-48E7-AD7E-4BBF6009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Giải mã proposal và giữ một polygon cho mỗi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0ED7C-9A67-480D-AEF3-CB64E021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4F26E-5278-485A-8A9D-79AA47E5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CC1F5-5FEF-4F59-8AC3-7882AF9E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69F4B-7F80-4BA1-B424-08B13A6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Rasterize polygon thành nhãn instance để đo metric.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B6ABB-C265-4D9D-9C0A-E128A94D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paper dùng 32 tia trong các thí nghiệm 2D. Nguồn: Schmidt et al., 2018.</a:t>
            </a:r>
          </a:p>
        </p:txBody>
      </p:sp>
    </p:spTree>
    <p:extLst>
      <p:ext uri="{BB962C8B-B14F-4D97-AF65-F5344CB8AC3E}">
        <p14:creationId xmlns:p14="http://schemas.microsoft.com/office/powerpoint/2010/main" val="7907104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423D7-40D2-4D48-853B-AE7CBB4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6ECDB-0C3C-4612-9D83-411733E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8CA47-1045-4F1E-852A-FB8FEB7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FA8CA-A1A1-4414-967B-4B0D391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object star-convex cho phép nối từ tâm đến mọi điểm biên mà không đi ra ngoài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24FF6-BB77-4054-8BE9-EA72B8D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136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450E6-12E5-47C0-98B5-030E679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BB4-3A6E-44EF-A09F-2C8852E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Các tia r₀ … rₖ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19A5A-C7CC-4B08-A22A-83E24F9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vₖ(p) = p + r̂ₖ(p)(cos θₖ, sin θₖ)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D506D-E421-47F9-857A-E162FC84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Mỗi pixel foreground có một vector khoảng cách.</a:t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đầu tia tạo một đa giác đại diện cho instance.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DCEB9-1B41-4D17-821A-06163D0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4A00"/>
                </a:solidFill>
                <a:latin typeface="Arial"/>
                <a:ea typeface="Arial"/>
                <a:cs typeface="Arial"/>
              </a:rPr>
              <a:t>Giới hạn: hình vòng, nhiều nhánh hoặc lõm sâu có thể không phù hợp giả thiết.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35BBD-BF5D-41FE-91D8-A2DFC90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Chi tiết công thức và phân tích sai số: docs/01_ly_thuyet_stardist.md.</a:t>
            </a:r>
          </a:p>
        </p:txBody>
      </p:sp>
    </p:spTree>
    <p:extLst>
      <p:ext uri="{BB962C8B-B14F-4D97-AF65-F5344CB8AC3E}">
        <p14:creationId xmlns:p14="http://schemas.microsoft.com/office/powerpoint/2010/main" val="1803393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40B2B-F1CC-47DA-B79D-55C33CB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28C3-FF1B-4E28-925C-8E1174E5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9874-1657-4D90-B80B-3E144572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DCDE9-EF02-4FF1-8368-33ABD6E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CNN tạo nhiều proposal trùng cho một object. NMS chọn proposal có score cao trước.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02FA1-FAB8-42CB-A0ED-56195DF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0D9E5-19A4-4512-9811-C8E556ED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55614-07FE-4751-9026-A1D4A422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Lọc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653F8-6518-4CAB-96C0-F72CBEAD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probability ≥ ngưỡng.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AF7A1-276A-4B9B-8977-31F9932A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96656-008F-4ADD-8CD1-9B0E8BFB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9DB30-C0A0-4D08-B2C7-F333ACCF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Sắp theo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8EA51-B288-4C5A-82B0-8A062B5A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xác suất cao được xử lý trước.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E1050-CE08-49A4-BECF-9FE9E9F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0AB81-5A76-41A4-8BF3-C9199B60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25CE3-C1AD-4EB5-848F-54FFD4D1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4FB2D-617F-48E0-9823-0F5FBA9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proposal chồng lấn quá ngưỡng NMS.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6CFE8-0187-4A1C-96BB-2237E41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AB595-1D4D-4772-AD1A-F4A82D7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61858-5A86-45F6-98CD-B731B4D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A9E71-4DCE-401B-B402-49C0E3A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còn lại trở thành instance cuối.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09D71-8427-474D-8816-BAE6FF18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Probability threshold ảnh hưởng recall. NMS threshold ảnh hưởng merge/split. Chọn trên validation, không chọn trên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2ECE1-4A36-4D02-9DDC-DB68E663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Phải ghi cả hai threshold trong run log Fiji và metadata Python.</a:t>
            </a:r>
          </a:p>
        </p:txBody>
      </p:sp>
    </p:spTree>
    <p:extLst>
      <p:ext uri="{BB962C8B-B14F-4D97-AF65-F5344CB8AC3E}">
        <p14:creationId xmlns:p14="http://schemas.microsoft.com/office/powerpoint/2010/main" val="3349533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B076C-EEFB-4C94-93BF-E8B039BF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baseline cổ điển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2E5D7-7973-454D-86B3-8A6C3D1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93EA-3918-4470-B2E4-74E58EA2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53877-7E09-4302-97FD-2EC9262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576EC-A528-411E-A87B-2A75C7EE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602DD-E119-45DD-98FB-25198840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F91F6-C8D2-488E-A536-A13B2FC0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F9A30-97A1-4D15-8DD4-D8A0FE60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Ảnh → Gaussian → Otsu threshold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morphology → connected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78C86-0BCC-4B91-9B7E-EC49677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Nhanh, đơn giản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Nhược điểm: gộp object chạm nhau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8FB9E-B381-416D-8991-790A6CD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6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mask → EDT → local-max markers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watershed(−distance)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5EAD3-6974-4471-8DFC-73D85C7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0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Có thể tách blob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Nhạy marker, nhiễu và min-distance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8FE29-418C-462D-AB84-6B88CB4D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công bằng bằng cùng input, ground truth, split và instance metrics.</a:t>
            </a:r>
          </a:p>
        </p:txBody>
      </p:sp>
    </p:spTree>
    <p:extLst>
      <p:ext uri="{BB962C8B-B14F-4D97-AF65-F5344CB8AC3E}">
        <p14:creationId xmlns:p14="http://schemas.microsoft.com/office/powerpoint/2010/main" val="7095983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F6E27-BC05-47E2-BEA6-2F569677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nền tảng tham chiếu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187D2-0342-4323-94CC-1C64DBC0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65E5A-5BA3-4F7C-AB1B-5076FC3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31D83-68B1-4D0C-9073-4C662EA6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5785D-89C7-441E-A197-E2362EB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Artifact plugin thật: StarDist 0.3.0-scijava, ImageJ 2.9 + legacy 1.53t.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4514F-33F6-4C25-BBCE-E28255D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A8C2E-387F-4C70-8F9E-5FFFA6B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Model fluorescent nuclei; pmin/pmax 1/99.8; probability .479071; NMS .3.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8EE7B-EA65-4C6F-A201-00523F7F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3D3C0-5282-452F-A0B5-98B39F6B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Java 8 + TensorFlow 1.12 CPU; xuất Label Image TIFF, log đầy đủ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4AA55-C53D-4B6C-AE17-7A509AE3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9BDF3-31A8-45C2-9325-3BE7613D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Kiểm chứng trước trên ba ca low/median/high; Python đọc đúng TIFF plugin xuất.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A8D01-5FC0-4EE1-9BD1-B72BFE9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12ADB-71A0-4AF4-AA5C-50BE5071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gộp 3 ca Fiji vào benchmark 50 ảnh hoặc dùng để xếp hạng.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3C415-284D-477C-BCE2-5809346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4476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 w="9525">
            <a:solidFill>
              <a:srgbClr val="9FD8E5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bdff9294a4327"/>
          <a:stretch xmlns:a="http://schemas.openxmlformats.org/drawingml/2006/main"/>
        </p:blipFill>
        <p:spPr>
          <a:xfrm xmlns:a="http://schemas.openxmlformats.org/drawingml/2006/main">
            <a:off x="7426277" y="1504950"/>
            <a:ext cx="3530695" cy="3371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A73B-7CC4-419D-9539-38802146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AP@.50 = .801±.244 | PQ = .788±.160 | n =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9A1B8-A121-4737-88D7-E299595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results/fiji_labels/, fiji/run_log_dsb2018_reference.csv và results/fiji_reference/.</a:t>
            </a:r>
          </a:p>
        </p:txBody>
      </p:sp>
    </p:spTree>
    <p:extLst>
      <p:ext uri="{BB962C8B-B14F-4D97-AF65-F5344CB8AC3E}">
        <p14:creationId xmlns:p14="http://schemas.microsoft.com/office/powerpoint/2010/main" val="114357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CAAA0-EA30-44BE-83C3-A066FFA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CF099-E406-4D2D-8BC9-27244F4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A6B9E-4A47-49B4-B5F7-55C0A09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AD7F1-1587-4070-B150-7759A7AC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Package xla_gr03 tách rõ phần nhóm tự viết và thư viện pretrained.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9CD33-9C5F-40D2-8D20-CED07E9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AA439-F5AD-437C-9120-F8D913FB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1C408-795E-416B-9286-A31E2813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grayscale, percentile normalization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BD41E-E0AE-4C71-B236-A085891A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9790-92C1-413B-8162-CEA05D06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EDCD8-6ED2-49F3-B7CF-A066FBE8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+ connected components, 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10AA7-00BB-4E77-A381-1079781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C4A83-F8B5-4943-B12D-40AE42F9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2060B-B117-4224-BB68-49CCD6B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EDT, ray distances, polygon, NMS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4BB78-77E4-4E6D-924A-B6375FFF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CFC3B-F643-445C-8D81-5D1CF93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FD387-3CE4-44FB-A2E6-5224829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IoU, Hungarian matching, AP/PQ/Dice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6C125-B553-4C2A-AB44-E7DA984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9ABE9-0237-422A-B6BF-3CA316E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4A6E7-E4CD-44A0-8C22-B1E1F3F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wrapper StarDist pretrained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E4A23-3F5A-428B-B265-C66F330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BB9FA-CB27-4F79-9557-B7D6A86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cli.py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C9A2F-3997-43C3-B692-F5D8C3C2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segment và evaluate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63247-1949-439E-A255-235249CA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Chạy: python scripts/run_experiment.py ... | Test/lint: pytest; ruff check .</a:t>
            </a:r>
          </a:p>
        </p:txBody>
      </p:sp>
    </p:spTree>
    <p:extLst>
      <p:ext uri="{BB962C8B-B14F-4D97-AF65-F5344CB8AC3E}">
        <p14:creationId xmlns:p14="http://schemas.microsoft.com/office/powerpoint/2010/main" val="1888305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BE87E1-E81E-4223-85BA-70D171D3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Benchmark DSB2018: 50 ảnh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36A45-CC41-4033-A6AF-98D25391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33D65-84A0-4FFD-ACA1-18C7FE6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760F-61EE-457A-9BE2-FC4352D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Watershed chọn min-distance = 9 trên 30 ảnh train. StarDist dùng model default threshold, không tune trên test.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93eda571e2462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6E16-138D-4C4E-AB82-DC153A35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C9257-1836-42A2-9E6F-DF8A913F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A74E8-6500-42F3-927A-C09ED11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0DC87-0BA9-4B4B-9690-EA7A8C79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AP@.50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06F66-71B8-4F89-9121-83118421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9EA78-32C6-4414-951D-58C5B4E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PQ@.50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D085-B67E-40A0-BC13-414A467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4312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C30F2-9344-41E9-84E0-69DC9286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98D70-2D62-480E-B405-FA2B8D78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14312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D8DFD-6601-4B87-88D6-792D2552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336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6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BC144-A5F7-4244-AE11-E9683F1C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35E3D-03F2-4FCA-8440-A81D3B7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25D0B-B8DA-49FA-89CF-AD287056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7BB90-1D70-4269-B5BD-FA925888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.643±.238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3D2E6-4315-4BD7-96DF-9983F1D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89D54-B7DA-426B-BE54-EACFC599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.627±.208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E5CD9-3B35-4615-B7BF-D32CDFBF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24C67-E333-4152-BE60-17DFDD2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4ED82-95E1-418E-A9C6-7898570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6225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6CA62-8204-4E25-98CF-A762FD3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52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15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14.06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6B320-BD47-4C74-9D9B-1C681733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72306-4E20-48ED-AD9D-6443D1A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7187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A4D68-FA6E-47D9-B98D-30758EA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4349A-D9A1-4AC8-8349-6167315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.715±.199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4BF8D-B323-4B00-855F-8D9924B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9C9CB-CC13-408F-827A-A4D580D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.677±.166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76F72A-E011-4181-9475-14186AE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8137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816990-4941-4B51-B94D-146DC26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B2358-4BBF-4954-847F-55DBC262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38137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91C8ED-48D7-454F-BB31-77323C7A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6.94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65CEA-708B-4CAD-9D60-A3F14F9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E56157-887F-414E-B31C-35950966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910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07FB6B-23DC-464E-81C6-F192BDAE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E2D941-3CBA-41F0-BEBF-55F4A1B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.853±.120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2B1DC-2284-452B-84BD-7AD0431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C0511-2BF2-4C92-A8B9-DDFBEFC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.785±.110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63B85-C28B-4545-86E6-D7C19654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050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9CEB0A-0562-4B0F-85E0-DC152583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.916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B152C-4618-4A75-AC3E-CF4F8D9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054D6A-F31A-42CF-BEE3-23EE363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02490-7BBB-48A8-ACC1-63E62AB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StarDist tăng AP/PQ và giảm sai số đếm; runtime Python CPU 0.112 s/ảnh. Evidence Fiji n=3 trình bày riêng ở slide 7.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710B7E-2312-4A25-9CD0-8C217CEA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 trên 50 test images. CSV: results/dsb2018_benchmark/summary_metrics.csv.</a:t>
            </a:r>
          </a:p>
        </p:txBody>
      </p:sp>
    </p:spTree>
    <p:extLst>
      <p:ext uri="{BB962C8B-B14F-4D97-AF65-F5344CB8AC3E}">
        <p14:creationId xmlns:p14="http://schemas.microsoft.com/office/powerpoint/2010/main" val="1955649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3B4A7-B5B2-4DED-B3BC-2185681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luận và case định tính trung vị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8DA0D-D076-443E-8433-29FD445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9ED79-8F83-4D2E-8E74-CDBB4E4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4CD72-C69E-47BC-8517-E0CC35A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3DEC8-CDC4-4E83-9014-C572E42D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tăng AP@.50/PQ và giảm MAE đếm trên 50 ảnh test; Dice foreground riêng lẻ không đủ nói lên chất lượng instance.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FD53D-3591-429D-AAFA-6AE0558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07166-1F09-43EB-B19C-6ED46000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Case trung vị bên dưới cho thấy Otsu thường merge nhân chạm nhau, Watershed cải thiện nhờ marker, StarDist bám ground truth sát hơn.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96CFA-8734-4F7D-B2C1-878C2FE4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dd9ac6f154331"/>
          <a:stretch xmlns:a="http://schemas.openxmlformats.org/drawingml/2006/main"/>
        </p:blipFill>
        <p:spPr>
          <a:xfrm xmlns:a="http://schemas.openxmlformats.org/drawingml/2006/main">
            <a:off x="726361" y="2352675"/>
            <a:ext cx="10739277" cy="2228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9F072-A982-434B-A409-A8ED8A68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Chốt nộp bài: điền tên/MSSV/mã nhóm • PDF, code, 50-image benchmark và evidence Fiji/ImageJ n=3 đã sẵn sàng.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018B1-E4A4-4749-9D4F-B067DD2E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results/dsb2018_benchmark/figures/qualitative_median.png và results/fiji_reference/.</a:t>
            </a:r>
          </a:p>
        </p:txBody>
      </p:sp>
    </p:spTree>
    <p:extLst>
      <p:ext uri="{BB962C8B-B14F-4D97-AF65-F5344CB8AC3E}">
        <p14:creationId xmlns:p14="http://schemas.microsoft.com/office/powerpoint/2010/main" val="874834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2026-10-04T02:21:15.7640000Z</dcterms:created>
  <dcterms:modified xsi:type="dcterms:W3CDTF">2026-10-04T02:21:15.7640000Z</dcterms:modified>
</coreProperties>
</file>