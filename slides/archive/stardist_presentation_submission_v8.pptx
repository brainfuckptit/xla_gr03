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2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f75ba47efc4aa2" /><Relationship Type="http://schemas.openxmlformats.org/officeDocument/2006/relationships/extended-properties" Target="/docProps/app.xml" Id="Ra49a2ec110304632" /><Relationship Type="http://schemas.openxmlformats.org/officeDocument/2006/relationships/officeDocument" Target="/ppt/presentation.xml" Id="R858bf4dd3f8745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61eedbac2f42e0"/>
  </p:sldMasterIdLst>
  <p:notesMasterIdLst>
    <p:notesMasterId xmlns:r="http://schemas.openxmlformats.org/officeDocument/2006/relationships" r:id="Re219f2e79cf84f75"/>
  </p:notesMasterIdLst>
  <p:sldIdLst>
    <p:sldId xmlns:r="http://schemas.openxmlformats.org/officeDocument/2006/relationships" id="256" r:id="Rb8eb19c090694341"/>
    <p:sldId xmlns:r="http://schemas.openxmlformats.org/officeDocument/2006/relationships" id="257" r:id="R6a1292485aca4d1e"/>
    <p:sldId xmlns:r="http://schemas.openxmlformats.org/officeDocument/2006/relationships" id="258" r:id="R7ad8f9cb51864023"/>
    <p:sldId xmlns:r="http://schemas.openxmlformats.org/officeDocument/2006/relationships" id="259" r:id="Rc4258366aab54cdb"/>
    <p:sldId xmlns:r="http://schemas.openxmlformats.org/officeDocument/2006/relationships" id="260" r:id="Raad1ffe368694dfd"/>
    <p:sldId xmlns:r="http://schemas.openxmlformats.org/officeDocument/2006/relationships" id="261" r:id="R688339999c194f76"/>
    <p:sldId xmlns:r="http://schemas.openxmlformats.org/officeDocument/2006/relationships" id="262" r:id="R5b9f6a78c23748cc"/>
    <p:sldId xmlns:r="http://schemas.openxmlformats.org/officeDocument/2006/relationships" id="263" r:id="Rcc609391e69840c5"/>
    <p:sldId xmlns:r="http://schemas.openxmlformats.org/officeDocument/2006/relationships" id="264" r:id="Rb055ae9601184b87"/>
    <p:sldId xmlns:r="http://schemas.openxmlformats.org/officeDocument/2006/relationships" id="265" r:id="Rc97818696f024522"/>
    <p:sldId xmlns:r="http://schemas.openxmlformats.org/officeDocument/2006/relationships" id="266" r:id="R0f867fc8ba0942e8"/>
    <p:sldId xmlns:r="http://schemas.openxmlformats.org/officeDocument/2006/relationships" id="267" r:id="Rd7ce63616c0242b3"/>
    <p:sldId xmlns:r="http://schemas.openxmlformats.org/officeDocument/2006/relationships" id="268" r:id="R80ad06b6fe094bdd"/>
    <p:sldId xmlns:r="http://schemas.openxmlformats.org/officeDocument/2006/relationships" id="269" r:id="R495e347b6db04cbd"/>
    <p:sldId xmlns:r="http://schemas.openxmlformats.org/officeDocument/2006/relationships" id="270" r:id="R5790401417344626"/>
    <p:sldId xmlns:r="http://schemas.openxmlformats.org/officeDocument/2006/relationships" id="271" r:id="Rcab81d9bbb9941b9"/>
    <p:sldId xmlns:r="http://schemas.openxmlformats.org/officeDocument/2006/relationships" id="272" r:id="R4193f35b03f44975"/>
    <p:sldId xmlns:r="http://schemas.openxmlformats.org/officeDocument/2006/relationships" id="273" r:id="R0b2453c5052347b2"/>
    <p:sldId xmlns:r="http://schemas.openxmlformats.org/officeDocument/2006/relationships" id="274" r:id="Ra703c2147f474499"/>
    <p:sldId xmlns:r="http://schemas.openxmlformats.org/officeDocument/2006/relationships" id="275" r:id="R721425868bee4069"/>
    <p:sldId xmlns:r="http://schemas.openxmlformats.org/officeDocument/2006/relationships" id="276" r:id="Rd1266f52d0684442"/>
    <p:sldId xmlns:r="http://schemas.openxmlformats.org/officeDocument/2006/relationships" id="277" r:id="Rca5cf36553c84c3a"/>
    <p:sldId xmlns:r="http://schemas.openxmlformats.org/officeDocument/2006/relationships" id="278" r:id="Rc5d13c011eb44171"/>
    <p:sldId xmlns:r="http://schemas.openxmlformats.org/officeDocument/2006/relationships" id="279" r:id="Rf4e6015cf7144940"/>
    <p:sldId xmlns:r="http://schemas.openxmlformats.org/officeDocument/2006/relationships" id="280" r:id="R21bca6c107ba4a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dc6fbb8f52419b" /><Relationship Type="http://schemas.openxmlformats.org/officeDocument/2006/relationships/slideMaster" Target="/ppt/slideMasters/slideMaster1.xml" Id="R4561eedbac2f42e0" /><Relationship Type="http://schemas.openxmlformats.org/officeDocument/2006/relationships/notesMaster" Target="/ppt/notesMasters/notesMaster1.xml" Id="Re219f2e79cf84f75" /><Relationship Type="http://schemas.openxmlformats.org/officeDocument/2006/relationships/presProps" Target="/ppt/presProps.xml" Id="R745875dd3a6548ae" /><Relationship Type="http://schemas.openxmlformats.org/officeDocument/2006/relationships/tableStyles" Target="/ppt/tableStyles.xml" Id="R713ce5128fdb4eba" /><Relationship Type="http://schemas.openxmlformats.org/officeDocument/2006/relationships/slide" Target="/ppt/slides/slide1.xml" Id="Rb8eb19c090694341" /><Relationship Type="http://schemas.openxmlformats.org/officeDocument/2006/relationships/slide" Target="/ppt/slides/slide2.xml" Id="R6a1292485aca4d1e" /><Relationship Type="http://schemas.openxmlformats.org/officeDocument/2006/relationships/slide" Target="/ppt/slides/slide3.xml" Id="R7ad8f9cb51864023" /><Relationship Type="http://schemas.openxmlformats.org/officeDocument/2006/relationships/slide" Target="/ppt/slides/slide4.xml" Id="Rc4258366aab54cdb" /><Relationship Type="http://schemas.openxmlformats.org/officeDocument/2006/relationships/slide" Target="/ppt/slides/slide5.xml" Id="Raad1ffe368694dfd" /><Relationship Type="http://schemas.openxmlformats.org/officeDocument/2006/relationships/slide" Target="/ppt/slides/slide6.xml" Id="R688339999c194f76" /><Relationship Type="http://schemas.openxmlformats.org/officeDocument/2006/relationships/slide" Target="/ppt/slides/slide7.xml" Id="R5b9f6a78c23748cc" /><Relationship Type="http://schemas.openxmlformats.org/officeDocument/2006/relationships/slide" Target="/ppt/slides/slide8.xml" Id="Rcc609391e69840c5" /><Relationship Type="http://schemas.openxmlformats.org/officeDocument/2006/relationships/slide" Target="/ppt/slides/slide9.xml" Id="Rb055ae9601184b87" /><Relationship Type="http://schemas.openxmlformats.org/officeDocument/2006/relationships/slide" Target="/ppt/slides/slide10.xml" Id="Rc97818696f024522" /><Relationship Type="http://schemas.openxmlformats.org/officeDocument/2006/relationships/slide" Target="/ppt/slides/slide11.xml" Id="R0f867fc8ba0942e8" /><Relationship Type="http://schemas.openxmlformats.org/officeDocument/2006/relationships/slide" Target="/ppt/slides/slide12.xml" Id="Rd7ce63616c0242b3" /><Relationship Type="http://schemas.openxmlformats.org/officeDocument/2006/relationships/slide" Target="/ppt/slides/slide13.xml" Id="R80ad06b6fe094bdd" /><Relationship Type="http://schemas.openxmlformats.org/officeDocument/2006/relationships/slide" Target="/ppt/slides/slide14.xml" Id="R495e347b6db04cbd" /><Relationship Type="http://schemas.openxmlformats.org/officeDocument/2006/relationships/slide" Target="/ppt/slides/slide15.xml" Id="R5790401417344626" /><Relationship Type="http://schemas.openxmlformats.org/officeDocument/2006/relationships/slide" Target="/ppt/slides/slide16.xml" Id="Rcab81d9bbb9941b9" /><Relationship Type="http://schemas.openxmlformats.org/officeDocument/2006/relationships/slide" Target="/ppt/slides/slide17.xml" Id="R4193f35b03f44975" /><Relationship Type="http://schemas.openxmlformats.org/officeDocument/2006/relationships/slide" Target="/ppt/slides/slide18.xml" Id="R0b2453c5052347b2" /><Relationship Type="http://schemas.openxmlformats.org/officeDocument/2006/relationships/slide" Target="/ppt/slides/slide19.xml" Id="Ra703c2147f474499" /><Relationship Type="http://schemas.openxmlformats.org/officeDocument/2006/relationships/slide" Target="/ppt/slides/slide20.xml" Id="R721425868bee4069" /><Relationship Type="http://schemas.openxmlformats.org/officeDocument/2006/relationships/slide" Target="/ppt/slides/slide21.xml" Id="Rd1266f52d0684442" /><Relationship Type="http://schemas.openxmlformats.org/officeDocument/2006/relationships/slide" Target="/ppt/slides/slide22.xml" Id="Rca5cf36553c84c3a" /><Relationship Type="http://schemas.openxmlformats.org/officeDocument/2006/relationships/slide" Target="/ppt/slides/slide23.xml" Id="Rc5d13c011eb44171" /><Relationship Type="http://schemas.openxmlformats.org/officeDocument/2006/relationships/slide" Target="/ppt/slides/slide24.xml" Id="Rf4e6015cf7144940" /><Relationship Type="http://schemas.openxmlformats.org/officeDocument/2006/relationships/slide" Target="/ppt/slides/slide25.xml" Id="R21bca6c107ba4a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c45d6fe2f045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494ce58a004f86" /><Relationship Type="http://schemas.openxmlformats.org/officeDocument/2006/relationships/notesMaster" Target="/ppt/notesMasters/notesMaster1.xml" Id="R24fd53c1c6cb4e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e04db581d84c2a" /><Relationship Type="http://schemas.openxmlformats.org/officeDocument/2006/relationships/notesMaster" Target="/ppt/notesMasters/notesMaster1.xml" Id="R2def0b374c3743a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f06debf7dc406c" /><Relationship Type="http://schemas.openxmlformats.org/officeDocument/2006/relationships/notesMaster" Target="/ppt/notesMasters/notesMaster1.xml" Id="Rc550472fe44f42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07138b50654f03" /><Relationship Type="http://schemas.openxmlformats.org/officeDocument/2006/relationships/notesMaster" Target="/ppt/notesMasters/notesMaster1.xml" Id="Rdaf8312617e145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6a5f5015584ec7" /><Relationship Type="http://schemas.openxmlformats.org/officeDocument/2006/relationships/notesMaster" Target="/ppt/notesMasters/notesMaster1.xml" Id="R48c8e74b5d0046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58756f75624e25" /><Relationship Type="http://schemas.openxmlformats.org/officeDocument/2006/relationships/notesMaster" Target="/ppt/notesMasters/notesMaster1.xml" Id="R00f2fbfa20334e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60eaad0f9e4678" /><Relationship Type="http://schemas.openxmlformats.org/officeDocument/2006/relationships/notesMaster" Target="/ppt/notesMasters/notesMaster1.xml" Id="Rdd4abd45b7374c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59ed293f644212" /><Relationship Type="http://schemas.openxmlformats.org/officeDocument/2006/relationships/notesMaster" Target="/ppt/notesMasters/notesMaster1.xml" Id="R447406f0f6f648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faca0b9e4d407e" /><Relationship Type="http://schemas.openxmlformats.org/officeDocument/2006/relationships/notesMaster" Target="/ppt/notesMasters/notesMaster1.xml" Id="Rcfee64a87c1f49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f1ca28bbc34b9c" /><Relationship Type="http://schemas.openxmlformats.org/officeDocument/2006/relationships/notesMaster" Target="/ppt/notesMasters/notesMaster1.xml" Id="R39111deb1cef42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7de1406ad54582" /><Relationship Type="http://schemas.openxmlformats.org/officeDocument/2006/relationships/notesMaster" Target="/ppt/notesMasters/notesMaster1.xml" Id="Rdb6cf8e53fb541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8ede0607024af0" /><Relationship Type="http://schemas.openxmlformats.org/officeDocument/2006/relationships/notesMaster" Target="/ppt/notesMasters/notesMaster1.xml" Id="R667d8800cbfd48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b76ce97f434b24" /><Relationship Type="http://schemas.openxmlformats.org/officeDocument/2006/relationships/notesMaster" Target="/ppt/notesMasters/notesMaster1.xml" Id="Rb2e0de9898f145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9df8b32c02b4565" /><Relationship Type="http://schemas.openxmlformats.org/officeDocument/2006/relationships/notesMaster" Target="/ppt/notesMasters/notesMaster1.xml" Id="Re030b3bbe9ad40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12a6b8ef785496f" /><Relationship Type="http://schemas.openxmlformats.org/officeDocument/2006/relationships/notesMaster" Target="/ppt/notesMasters/notesMaster1.xml" Id="R831c29add4fc49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2bd5ad163f43e0" /><Relationship Type="http://schemas.openxmlformats.org/officeDocument/2006/relationships/notesMaster" Target="/ppt/notesMasters/notesMaster1.xml" Id="R6f0771ddf02a44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fbaed98c4f4c24" /><Relationship Type="http://schemas.openxmlformats.org/officeDocument/2006/relationships/notesMaster" Target="/ppt/notesMasters/notesMaster1.xml" Id="R301436b7fc16414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4ba9eeb9174b65" /><Relationship Type="http://schemas.openxmlformats.org/officeDocument/2006/relationships/notesMaster" Target="/ppt/notesMasters/notesMaster1.xml" Id="R886b1e8105d841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4975d50def34e6b" /><Relationship Type="http://schemas.openxmlformats.org/officeDocument/2006/relationships/notesMaster" Target="/ppt/notesMasters/notesMaster1.xml" Id="Rdc79689d123546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f37f5c8e2194d29" /><Relationship Type="http://schemas.openxmlformats.org/officeDocument/2006/relationships/notesMaster" Target="/ppt/notesMasters/notesMaster1.xml" Id="Rd5ba6835593b43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4270cf08c2470c" /><Relationship Type="http://schemas.openxmlformats.org/officeDocument/2006/relationships/notesMaster" Target="/ppt/notesMasters/notesMaster1.xml" Id="R89959c0e8b60494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eadc5f14e8749bf" /><Relationship Type="http://schemas.openxmlformats.org/officeDocument/2006/relationships/notesMaster" Target="/ppt/notesMasters/notesMaster1.xml" Id="R87d51f40204c4f5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41ac3566f644715" /><Relationship Type="http://schemas.openxmlformats.org/officeDocument/2006/relationships/notesMaster" Target="/ppt/notesMasters/notesMaster1.xml" Id="Rb2eb2bfb2326466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7c43da6d2be4de1" /><Relationship Type="http://schemas.openxmlformats.org/officeDocument/2006/relationships/notesMaster" Target="/ppt/notesMasters/notesMaster1.xml" Id="R5dee6f5e726c470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ab574ff9be448c6" /><Relationship Type="http://schemas.openxmlformats.org/officeDocument/2006/relationships/notesMaster" Target="/ppt/notesMasters/notesMaster1.xml" Id="Rbcaba9fd281c43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 (2018); tài liệu và artefact của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Chương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mục Bài toán instance segmentation.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data/README.md; results/dsb2018_benchmark/selected_cases.csv.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Protocol benchmark và Kết quả.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 (2018); report/report.tex, StarDist 2D.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Tiền xử lý và quy ước số học.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Ronneberger et al. (2015); Schmidt et al. (2018); report/report.tex, CNN và U-Net.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 (2018); report/report.tex, Probability map và star-convex polygon.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Huấn luyện và NMS; src/xla_gr03/.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Suy luận, candidate filtering và polygon NMS.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Otsu (1979); report/report.tex, Otsu và connected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Vincent &amp; Soille (1991); results/dsb2018_benchmark/watershed_validation_sweep.csv.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src/xla_gr03/metrics.py; report/report.tex, Matching và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report/report.tex, Matching và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fiji/workflows/stardist_fiji_protocol.md; results/fiji_reference/provenance.json.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fiji/workflows/stardist_fiji_protocol.md, Cài plugin và Chạy một ảnh.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results/fiji_reference/fiji_workflow_evidence.png; fiji/run_log_dsb2018_reference.csv.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results/fiji_reference/summary_metrics.csv và fiji_reference_panels.png.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src/xla_gr03/ và pyproject.toml.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README.md, pyproject.toml, scripts/ và test log của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results/dsb2018_benchmark/summary_metrics.csv; bảng kết quả trong report/report.tex.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results/dsb2018_benchmark/figures/qualitative_median.png.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results/dsb2018_benchmark/figures/qualitative_low.png; report/report.tex, Đe doạ tới tính hợp lệ.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Tổng kết từ report/report.tex và toàn bộ artefact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73453d8f2d4e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55eb9ebced4ded" /><Relationship Type="http://schemas.openxmlformats.org/officeDocument/2006/relationships/slideLayout" Target="/ppt/slideLayouts/slideLayout1.xml" Id="R9afab1db902f49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fab1db902f49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303780a09428d" /><Relationship Type="http://schemas.openxmlformats.org/officeDocument/2006/relationships/notesSlide" Target="/ppt/notesSlides/notesSlide1.xml" Id="Rf8985a5ededa4d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63bb7f0294c49" /><Relationship Type="http://schemas.openxmlformats.org/officeDocument/2006/relationships/notesSlide" Target="/ppt/notesSlides/notesSlide2.xml" Id="Rc91f440400ee48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e6f19c7b7470c" /><Relationship Type="http://schemas.openxmlformats.org/officeDocument/2006/relationships/notesSlide" Target="/ppt/notesSlides/notesSlide3.xml" Id="Re8012ea15a9047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c5fa230764750" /><Relationship Type="http://schemas.openxmlformats.org/officeDocument/2006/relationships/image" Target="/ppt/media/image.png" Id="R4835cb00f0654d6c" /><Relationship Type="http://schemas.openxmlformats.org/officeDocument/2006/relationships/notesSlide" Target="/ppt/notesSlides/notesSlide4.xml" Id="R06fa0b18424f4a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34f645ddf478c" /><Relationship Type="http://schemas.openxmlformats.org/officeDocument/2006/relationships/notesSlide" Target="/ppt/notesSlides/notesSlide5.xml" Id="Ra737113d6afa41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061bebc5e49b3" /><Relationship Type="http://schemas.openxmlformats.org/officeDocument/2006/relationships/notesSlide" Target="/ppt/notesSlides/notesSlide6.xml" Id="Rb54891804ee341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c46f0909b42fa" /><Relationship Type="http://schemas.openxmlformats.org/officeDocument/2006/relationships/notesSlide" Target="/ppt/notesSlides/notesSlide7.xml" Id="Rbc6252efe68441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2bf282d804e98" /><Relationship Type="http://schemas.openxmlformats.org/officeDocument/2006/relationships/notesSlide" Target="/ppt/notesSlides/notesSlide8.xml" Id="R58a2dc5c77b044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29cebd1c64b32" /><Relationship Type="http://schemas.openxmlformats.org/officeDocument/2006/relationships/notesSlide" Target="/ppt/notesSlides/notesSlide9.xml" Id="R2bae4bd13d5f47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5d72d742d4d81" /><Relationship Type="http://schemas.openxmlformats.org/officeDocument/2006/relationships/notesSlide" Target="/ppt/notesSlides/notesSlide10.xml" Id="Rbb119c76b85c4d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d73c612bb488b" /><Relationship Type="http://schemas.openxmlformats.org/officeDocument/2006/relationships/notesSlide" Target="/ppt/notesSlides/notesSlide11.xml" Id="R9942753f3b1c43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1ef8ce1f54203" /><Relationship Type="http://schemas.openxmlformats.org/officeDocument/2006/relationships/notesSlide" Target="/ppt/notesSlides/notesSlide12.xml" Id="Ra67df1e5d6fa43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4b7748bc241af" /><Relationship Type="http://schemas.openxmlformats.org/officeDocument/2006/relationships/chart" Target="/ppt/slides/charts/chart1.xml" Id="R6fc934de441e4e2c" /><Relationship Type="http://schemas.openxmlformats.org/officeDocument/2006/relationships/notesSlide" Target="/ppt/notesSlides/notesSlide13.xml" Id="R45ad97b0b7fe496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acb108d65481a" /><Relationship Type="http://schemas.openxmlformats.org/officeDocument/2006/relationships/notesSlide" Target="/ppt/notesSlides/notesSlide14.xml" Id="R9f4f5745b04f4c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fab731a434d7c" /><Relationship Type="http://schemas.openxmlformats.org/officeDocument/2006/relationships/notesSlide" Target="/ppt/notesSlides/notesSlide15.xml" Id="R517bf0a056054d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c59c18667497e" /><Relationship Type="http://schemas.openxmlformats.org/officeDocument/2006/relationships/notesSlide" Target="/ppt/notesSlides/notesSlide16.xml" Id="Rc0f66f0166e742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78074580d44e1" /><Relationship Type="http://schemas.openxmlformats.org/officeDocument/2006/relationships/notesSlide" Target="/ppt/notesSlides/notesSlide17.xml" Id="Raf25a6e5d0e743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fc0f6ee9c46cd" /><Relationship Type="http://schemas.openxmlformats.org/officeDocument/2006/relationships/image" Target="/ppt/media/image2.png" Id="Red20adc90ba0490d" /><Relationship Type="http://schemas.openxmlformats.org/officeDocument/2006/relationships/notesSlide" Target="/ppt/notesSlides/notesSlide18.xml" Id="R4b5d80a345a04e5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b0a30a01b499d" /><Relationship Type="http://schemas.openxmlformats.org/officeDocument/2006/relationships/image" Target="/ppt/media/image3.png" Id="R9e4da9ed99e647c9" /><Relationship Type="http://schemas.openxmlformats.org/officeDocument/2006/relationships/notesSlide" Target="/ppt/notesSlides/notesSlide19.xml" Id="R66b47f8740d944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20f0f4e724771" /><Relationship Type="http://schemas.openxmlformats.org/officeDocument/2006/relationships/notesSlide" Target="/ppt/notesSlides/notesSlide20.xml" Id="Rf5fee768994e4f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2cadb2f834cec" /><Relationship Type="http://schemas.openxmlformats.org/officeDocument/2006/relationships/notesSlide" Target="/ppt/notesSlides/notesSlide21.xml" Id="R81a044b465884b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2c6f6b1ef43a0" /><Relationship Type="http://schemas.openxmlformats.org/officeDocument/2006/relationships/chart" Target="/ppt/slides/charts/chart2.xml" Id="Rf7aaa406a32946b4" /><Relationship Type="http://schemas.openxmlformats.org/officeDocument/2006/relationships/notesSlide" Target="/ppt/notesSlides/notesSlide22.xml" Id="R512af9c70de34ce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9c75083344c63" /><Relationship Type="http://schemas.openxmlformats.org/officeDocument/2006/relationships/image" Target="/ppt/media/image4.png" Id="R0098276fa738487b" /><Relationship Type="http://schemas.openxmlformats.org/officeDocument/2006/relationships/notesSlide" Target="/ppt/notesSlides/notesSlide23.xml" Id="R302978f0e8614a1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0ab3d3f1a4263" /><Relationship Type="http://schemas.openxmlformats.org/officeDocument/2006/relationships/image" Target="/ppt/media/image5.png" Id="R0def6bce80544ad2" /><Relationship Type="http://schemas.openxmlformats.org/officeDocument/2006/relationships/notesSlide" Target="/ppt/notesSlides/notesSlide24.xml" Id="Rbd0adc5a8b17400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b63bfb584c4b81" /><Relationship Type="http://schemas.openxmlformats.org/officeDocument/2006/relationships/notesSlide" Target="/ppt/notesSlides/notesSlide25.xml" Id="R5bf16b52898549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Validation AP@0.50 theo min_distance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0B1F3A"/>
              </a:solidFill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ser>
          <c:idx val="0"/>
          <c:order val="0"/>
          <c:tx>
            <c:v>AP@0.50</c:v>
          </c:tx>
          <c:spPr>
            <a:ln xmlns:a="http://schemas.openxmlformats.org/drawingml/2006/main" w="28575">
              <a:solidFill>
                <a:srgbClr val="0F766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0F766E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11</c:v>
                </c:pt>
              </c:numCache>
            </c:num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0.533</c:v>
                </c:pt>
                <c:pt idx="1">
                  <c:v>0.667</c:v>
                </c:pt>
                <c:pt idx="2">
                  <c:v>0.704</c:v>
                </c:pt>
                <c:pt idx="3">
                  <c:v>0.705</c:v>
                </c:pt>
                <c:pt idx="4">
                  <c:v>0.696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13D"/>
                  </a:solidFill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min_distance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8"/>
          <c:min val="0.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E0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AP@0.50 và PQ@0.50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 b="1">
              <a:solidFill>
                <a:srgbClr val="0B1F3A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AP@0.50</c:v>
          </c:tx>
          <c:spPr>
            <a:solidFill xmlns:a="http://schemas.openxmlformats.org/drawingml/2006/main">
              <a:srgbClr val="1363DF"/>
            </a:solidFill>
          </c:spPr>
          <c:cat>
            <c:strRef>
              <c:f>'Chart Data'!$A$2:$A$4</c:f>
              <c:strCache>
                <c:ptCount val="3"/>
                <c:pt idx="0">
                  <c:v>Otsu</c:v>
                </c:pt>
                <c:pt idx="1">
                  <c:v>Watershed</c:v>
                </c:pt>
                <c:pt idx="2">
                  <c:v>StarDist Python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0.643</c:v>
                </c:pt>
                <c:pt idx="1">
                  <c:v>0.715</c:v>
                </c:pt>
                <c:pt idx="2">
                  <c:v>0.853</c:v>
                </c:pt>
              </c:numCache>
            </c:numRef>
          </c:val>
        </c:ser>
        <c:ser>
          <c:idx val="1"/>
          <c:order val="1"/>
          <c:tx>
            <c:v>PQ@0.50</c:v>
          </c:tx>
          <c:spPr>
            <a:solidFill xmlns:a="http://schemas.openxmlformats.org/drawingml/2006/main">
              <a:srgbClr val="48CAE4"/>
            </a:solidFill>
          </c:spPr>
          <c:cat>
            <c:strRef>
              <c:f>'Chart Data'!$C$2:$C$4</c:f>
              <c:strCache>
                <c:ptCount val="3"/>
                <c:pt idx="0">
                  <c:v>Otsu</c:v>
                </c:pt>
                <c:pt idx="1">
                  <c:v>Watershed</c:v>
                </c:pt>
                <c:pt idx="2">
                  <c:v>StarDist Python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0.627</c:v>
                </c:pt>
                <c:pt idx="1">
                  <c:v>0.677</c:v>
                </c:pt>
                <c:pt idx="2">
                  <c:v>0.785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421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FE0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2616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3909A-97DE-4B46-92BC-A0CE5DEC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895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ĐOẠN TỪNG ĐỐI TƯỢNG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BẰNG DEEP LEARNING VỚI STARDIST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64F24C-1B72-4D94-91F8-0DE6F347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838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8CAE4"/>
                </a:solidFill>
                <a:latin typeface="Arial"/>
                <a:ea typeface="Arial"/>
                <a:cs typeface="Arial"/>
              </a:rPr>
              <a:t>Instance segmentation - đối chiếu Fiji/ImageJ và cài đặt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8F70A-FA22-49D2-B276-F66B5CF6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Bài tập lớn Xử lý ảnh số | Nhóm 03 | PTIT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AB7164-ED49-4E45-B191-EA838F81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Nguyễn Hồng Quang - B23DCVT361</a:t>
            </a:r>
          </a:p>
          <a:p xmlns:a="http://schemas.openxmlformats.org/drawingml/2006/main">
            <a: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Nguyễn Trọng Nam Khánh - B23DCCE052</a:t>
            </a:r>
          </a:p>
          <a:p xmlns:a="http://schemas.openxmlformats.org/drawingml/2006/main">
            <a: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Vũ Dũng - B23DCVT110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43174D-0F9E-4025-9B8E-7286F8FE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8CAE4"/>
                </a:solidFill>
                <a:latin typeface="Arial"/>
                <a:ea typeface="Arial"/>
                <a:cs typeface="Arial"/>
              </a:rPr>
              <a:t>StarDist 2D | DSB2018 | Fiji/ImageJ | Python</a:t>
            </a:r>
          </a:p>
        </p:txBody>
      </p:sp>
    </p:spTree>
    <p:extLst>
      <p:ext uri="{BB962C8B-B14F-4D97-AF65-F5344CB8AC3E}">
        <p14:creationId xmlns:p14="http://schemas.microsoft.com/office/powerpoint/2010/main" val="13588857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E8355-9906-4578-B156-3B9608CE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Mục tiêu, phạm vi và câu hỏi nghiên cứu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0B596-03B4-4373-BAD3-2A81A37E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8BE10-AB2F-4AD0-9BE1-9FB84631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B095A-0F5F-453B-851B-22ACA5E6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F4BDF-0A92-44BD-92EF-737F806D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18F17-A2DE-420C-B7FC-7A5B2810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859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Nghiên cứu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9B178-E89B-4903-B82B-5D26A13B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Lý thuyết instance segmentation, CNN/U-Net, star-convex và NMS.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D58A3-F7B0-47FA-8316-91065867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240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3F3F9-3E3F-4475-9712-63418465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5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A36C3-EF97-4249-BE5F-1B3148D2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52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3BC75-AE4B-410A-9D57-E0908A7D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859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Tham chiếu Fiji/ImageJ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7C072-B384-4E89-9D0F-B1D0262D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002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Chạy plugin StarDist thật, lưu Label TIFF, thông số và runtime.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ECEDA-E358-4F46-B8DD-B0017C6F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F6CC74-DDE3-4ADD-9128-6908C13B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794A1B-FBC3-4664-B897-38D6840B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FEA4B-77A5-46B4-B1A9-6E043D8B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99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đặt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57ED4-FA66-4228-B51F-93739C7F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Tái lập baseline, hình học, matching metric và wrapper pretrained.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BCE13-C254-443A-A136-A866C36D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480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348B0C-D95B-4BCA-AF51-FBE8C92D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19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9D69CB-85D1-43EA-8987-E9B20F82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766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E4C006-51D5-4C3E-854B-08295612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99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Đánh giá định lượng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0B322-5B72-4C69-8D56-3A3A984D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Otsu, Watershed, StarDist trên 50 ảnh test và Fiji trên 3 ca.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B61501-8F54-445F-905F-031B6EDF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RQ1: StarDist có tách object chạm nhau tốt hơn baseline?  RQ2: Fiji và Python có khớp khi giữ input/tham số?  RQ3: threshold ảnh hưởng thế nào?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9E455-E5BE-49E8-8EA4-3E8AEE59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Phạm vi: inference với model pretrained, không tuyên bố huấn luyện lại CNN.</a:t>
            </a:r>
          </a:p>
        </p:txBody>
      </p:sp>
    </p:spTree>
    <p:extLst>
      <p:ext uri="{BB962C8B-B14F-4D97-AF65-F5344CB8AC3E}">
        <p14:creationId xmlns:p14="http://schemas.microsoft.com/office/powerpoint/2010/main" val="2246984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240EA-AB11-4BE8-9BB9-637BA41F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Bài toán instance segmentation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7C71E-1B4D-4098-8894-778AB5A6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Một pixel nền có label 0. Mỗi object phải có ID dương riêng.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1B0BC-C7F1-48CA-83DE-CA341F8B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A6BD5-53A7-46E3-A2CB-7F19BC79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56D02-5EE3-4A25-A028-72523D4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Semantic segmentation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464BE-CE06-4B03-A2B3-ACCCCD2A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Dự đoán foreground/background. Hai nhân chạm nhau vẫn có thể là một vùng liên thông.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51C84-2D4D-40FE-9750-ABA01502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15461-02B2-4E6E-946D-FCDB8712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Object detection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5C5DB-B59A-49C2-8E81-35A510EF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Trả bounding box và score. Định vị được object nhưng không đủ cho diện tích hay hình dạng.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2257F-F79B-4D6B-AAE5-BCCF65AD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C7DA3-91F1-46CD-A780-97A0449D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Instance segmentation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76998-CE62-4D89-A4AF-F5945B70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Trả mask hoặc polygon riêng cho từng object. Có thể đếm, đo diện tích và chu vi.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B0AA0-4C55-40BD-9B97-378A3B82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Mục tiêu toán học: I: Ω → Rᶜ  |  Y: Ω → {0,1,...,M}  |  Ŷ = fθ(I)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479B4-85C5-4B65-AE34-4EE77A43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Một Dice foreground cao vẫn có thể che lỗi merge/split. Vì vậy cần matching từng instance.</a:t>
            </a:r>
          </a:p>
        </p:txBody>
      </p:sp>
    </p:spTree>
    <p:extLst>
      <p:ext uri="{BB962C8B-B14F-4D97-AF65-F5344CB8AC3E}">
        <p14:creationId xmlns:p14="http://schemas.microsoft.com/office/powerpoint/2010/main" val="19355986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2C99A0-8BAA-46D5-8A5F-E21BE176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Dataset, ground truth và split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6E774-6F3E-4CB0-8DB5-97070E84B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DSB2018 được versioned trong repository để tái lập đúng kết quả.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9AC31-1140-4F85-A799-8D4BFBFF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DEAE4-126F-437B-9E06-A885113B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497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064DA-6F56-4393-9BA7-E708AA0D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7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72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cặp TIFF image + instance label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3A1B4-A9DB-462B-8EA4-BE8727EE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447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866E8-5468-4F2A-8370-1784DB55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7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ảnh train, dùng development/validation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786AD-C723-432F-AB31-5C2250A6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76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8B034-12C9-491C-9E3B-793D0FD5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7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916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ảnh test, chỉ dùng đánh giá cuối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F7783-3C9C-48A4-9E3F-195CA846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7637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69BD5-4BAA-4DF7-881A-7D86563B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716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ID nền trong Label 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13241-5EB4-4215-A916-A4F5F7F9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1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Quy ước bắt buộc: input và ground truth cùng basename/kích thước; label là TIFF số nguyên 2D, không phải PNG RGB màu.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7467C-7EB4-49B1-BAD9-8E552147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5cb00f0654d6c"/>
          <a:stretch xmlns:a="http://schemas.openxmlformats.org/drawingml/2006/main"/>
        </p:blipFill>
        <p:spPr>
          <a:xfrm xmlns:a="http://schemas.openxmlformats.org/drawingml/2006/main">
            <a:off x="1442784" y="3295650"/>
            <a:ext cx="9306432" cy="2152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203D8-5176-410E-97F2-D8DA4F60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Data: data/dsb2018/dsb2018/ | Label IDs trong ảnh màu chỉ phục vụ hiển thị.</a:t>
            </a:r>
          </a:p>
        </p:txBody>
      </p:sp>
    </p:spTree>
    <p:extLst>
      <p:ext uri="{BB962C8B-B14F-4D97-AF65-F5344CB8AC3E}">
        <p14:creationId xmlns:p14="http://schemas.microsoft.com/office/powerpoint/2010/main" val="12505557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5673B-69BD-4789-B3A8-5BFF84A6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Protocol thực nghiệm công bằng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46B6-F055-4AB8-A7DD-6A710FDF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D47F6-81D1-4C64-8588-3D872712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CB3D9-81D4-4803-B9FB-9AC9FCAC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43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359AD-1C2F-43F6-B48F-4FBAF24D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0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B2CC2-3006-4A0C-938D-ED233612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3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B9519-6589-47DE-8DF7-AA1FE968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Kiểm tra I/O, label format và code. Không báo cáo metric ở bước này.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4E133-AC79-4596-9A91-4A6114CF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71625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B9186-7FB2-4482-B303-0B9FAE14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43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B621E-F9D4-492B-90D6-76FA094B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00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01E85-7170-44BD-BB82-7005394C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33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914BE-F40F-454B-90A7-CABA21F3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478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Chọn Watershed min_distance=9 bằng 30 ảnh lấy seed 42 từ train.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BDED2-DDEF-488F-9DD6-688518E1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213340-50B9-42DE-928A-427CD891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09EFB-7C9B-429C-B9D2-93C64ED4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A2958-0FB5-4ED3-9686-43CEE6FF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Test benchmark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BB91D-1BF0-4ECD-B993-0912EC23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718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Otsu, Watershed và StarDist Python chạy trên toàn bộ 50 ảnh test.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602836-43EA-4F56-AF6D-4C4A1D3D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95625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C2827-A3FD-49FC-A7FB-BB7FDB1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67075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DD7AA-B9AA-410F-8041-0D902CA8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242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F73EEA-DCF1-424A-B1E0-0F105A15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 reference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6C6CD-C676-4D86-9C7F-AAD5934A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71875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Ba ca low/median/high cố định để kiểm chứng cross-platform, không gộp n=3 vào n=50.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7AC4FA-BFF6-49CE-84CB-861E8CC1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Cùng input, ground truth, cách tính metric và định dạng Label TIFF cho mọi phương pháp.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BBBA3-EEF5-4694-94E8-D3BE95CE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StarDist dùng p=0.479071 và NMS=0.3 từ model, không tune trên test.</a:t>
            </a:r>
          </a:p>
        </p:txBody>
      </p:sp>
    </p:spTree>
    <p:extLst>
      <p:ext uri="{BB962C8B-B14F-4D97-AF65-F5344CB8AC3E}">
        <p14:creationId xmlns:p14="http://schemas.microsoft.com/office/powerpoint/2010/main" val="18057194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63CDCA-39A7-4ABB-B7CB-C549A44A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StarDist 2D: pipeline từ ảnh đến instance 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73BE0-828E-45C9-82FE-1D4CB38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Backbone CNN tạo prediction dày đặc, hậu xử lý biến prediction thành polygon có ID.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31C1F-2DD5-4E17-8A1E-BDC59E07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A5FFE-75BD-4A02-843E-002F6616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93C48-4D8E-48EA-B0AE-2E402D8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F8A56-D2DE-44FA-BB61-567A5040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Ảnh TIFF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2A851-00DC-474E-AD63-0B8546D9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62ECC-09AA-4E5A-9AFE-2264F0C0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28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10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923BC-3E15-4052-A61A-6DA7A23A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2D5F4-D975-4C2E-862B-2133059F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E692F-1243-487E-8DA9-C1FCC8E2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51971-339C-4831-AEE7-81CDC36E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percentile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CFE31-151B-44B5-AA43-9493E4EE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28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10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7C9C0-2C86-46A3-82CA-45A1E9A2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A2CA3-CC6E-40B4-8DE9-0D9646C1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30CC5-BA47-4894-B0E8-27A9E6A9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U-Net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D9E5D-304C-434D-94E1-3BB2D2EC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shared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3A32FE-2542-4C8A-866C-93F7CEC8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28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10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2D23C-D4DB-4037-9775-ED423F9E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382343-C924-4AC8-8F9A-0916DB4D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A70B5F-379D-4CEF-A603-42BB6EF2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Hai head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C8453-E714-48B2-9F0A-E0BA88BB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 và rₖ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F20FE8-272F-45DA-90CA-82FB5006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28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10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6691C-AEF6-4FCB-B974-3B80116C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6E593C-1D23-4E99-9321-94A98DA3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27361D-9BEF-4F91-88CC-47C598CB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754E1-089D-436B-A6B9-96D0A359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polygon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330861-ED23-4DA3-9265-ABA6C997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289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810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160A40-AB56-409C-9179-92E44DC1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76500"/>
            <a:ext cx="16573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0FE2C8-0543-47F4-908F-9D2A362A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47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0837B6-76C2-419C-992D-D8EC2022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8610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Label TIFF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B6AFDD-1C24-44A1-89A2-627CE530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4480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ID 1..N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8C8659-331F-49DE-851F-6E01093E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Output không phải semantic mask. Mỗi polygon giữ lại sau NMS được rasterize thành một ID instance riêng.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F659B3-1490-4F54-9C20-0E508A50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Paper gốc StarDist 2D dùng 32 tia radial cho mỗi pixel foreground.</a:t>
            </a:r>
          </a:p>
        </p:txBody>
      </p:sp>
    </p:spTree>
    <p:extLst>
      <p:ext uri="{BB962C8B-B14F-4D97-AF65-F5344CB8AC3E}">
        <p14:creationId xmlns:p14="http://schemas.microsoft.com/office/powerpoint/2010/main" val="1818374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A9E83-BAD6-42E0-BA96-D95E205D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Tiền xử lý: percentile normalization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1B6A1-09FD-404A-A8BA-8C555863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0AB30-6D6E-442A-A059-F7F46950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048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E1494-87E0-4FF0-B8B3-BD29A6C9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1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I_norm(q) = clip((I(q) - Q₁(I)) / (Q₉₉.₈(I) - Q₁(I) + ε), 0, 1)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1D928-1F6C-4D92-950D-28855EA0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Q₁ và Q₉₉.₈ là percentile của ảnh. ε tránh chia cho 0. Clip giới hạn dữ liệu về [0,1].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ED71A-5C6F-47E2-97A1-6710B807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5029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39D2A-CAB6-43F5-9CEA-C3462DF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Quy tắc tái lập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DB12A-2C2E-4867-A0C2-B1EFDF28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90800"/>
            <a:ext cx="40767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39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Fiji và Python cùng dùng 1 / 99.8. Không resize, đổi pixel size hay chuẩn hoá khác chỉ ở một phía.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Output Label Image vẫn là TIFF integer, không chịu biến đổi intensity này.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16955-2D4F-4547-8BCE-AD454621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Mục đích: giảm ảnh hưởng outlier sáng/tối và đưa ảnh vào thang cường độ phù hợp model pretrained.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8CEAE-DB14-414B-9F71-DD5F8537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Tham số được ghi trong run log Fiji và provenance của benchmark Python.</a:t>
            </a:r>
          </a:p>
        </p:txBody>
      </p:sp>
    </p:spTree>
    <p:extLst>
      <p:ext uri="{BB962C8B-B14F-4D97-AF65-F5344CB8AC3E}">
        <p14:creationId xmlns:p14="http://schemas.microsoft.com/office/powerpoint/2010/main" val="10053088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776B40-7016-4E1C-89C0-3B14EB00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CNN/U-Net: backbone đa đầu 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B6AEF-2689-4B9E-807A-DFE4668B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2C3DA-DB3A-4F11-BF60-386574C6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8C538-181E-4B5F-AA0A-FAE61C5E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B6B9B-D009-48E8-A3AF-11E348A9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146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93DCE-7374-4647-AE00-60879794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Downsample để học ngữ cảnh và receptive 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5512A-AF6D-4665-9720-B63E802C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575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1AC96-0EF7-4545-A1E6-F20C5BD1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6A781-540F-4191-B3EF-97135AE0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669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34F38-1461-47D6-858E-A19F96A1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146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38D5B-4454-4B07-B6AF-2DC1194E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813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Feature ngữ nghĩa ở độ phân giải thấp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A2AB8-5A5F-476B-B9E5-80FF93D7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575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53611-FDA7-4552-B30E-E56649E2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24003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45859-5503-433F-B7A0-F411D767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66950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04ACCD-B916-4D08-A655-17DED40B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14625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Decoder + skip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5177E5-FF7A-46B5-BE5D-91C40DEB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84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Upsample, ghép feature cùng scale để phục hồi biên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36C06-1EF1-4B72-8E64-EAC78809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95500"/>
            <a:ext cx="17907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FC83BD-E5E0-4732-B07E-7BFB95A5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003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Hai head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2C42A-C326-4115-AC12-C8A931D39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84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Probability</a:t>
            </a:r>
          </a:p>
          <a:p xmlns:a="http://schemas.openxmlformats.org/drawingml/2006/main">
            <a: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p̂(q)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Ray distances</a:t>
            </a:r>
          </a:p>
          <a:p xmlns:a="http://schemas.openxmlformats.org/drawingml/2006/main">
            <a:pPr algn="ctr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r̂(q) ∈ R⁺ᴷ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6D191-F38D-4D26-BD54-F905C8F0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036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(p̂(q), r̂(q)) = hθ(I)(q): score cho proposal và K khoảng cách từ pixel đến biên object.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BC340-22D8-46D9-B89D-D0EA6FF9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Nhóm gọi model pretrained chính thức, không tuyên bố tự train lại toàn bộ CNN.</a:t>
            </a:r>
          </a:p>
        </p:txBody>
      </p:sp>
    </p:spTree>
    <p:extLst>
      <p:ext uri="{BB962C8B-B14F-4D97-AF65-F5344CB8AC3E}">
        <p14:creationId xmlns:p14="http://schemas.microsoft.com/office/powerpoint/2010/main" val="7235512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CC3C6-ED59-4F02-B051-C74CFB74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Biểu diễn star-convex bằng K tia radial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8D6E08-C03B-4AD9-8252-BAD2EEEF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394B9-3D77-41CF-AB23-F0C1EF0C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714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18BF7-13E3-416E-90A3-47156910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24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Tâm 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10DFB-8FD0-47AA-B6B2-28CE8ED9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2419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K = 32 hướng đều nhau</a:t>
            </a:r>
          </a:p>
          <a:p xmlns:a="http://schemas.openxmlformats.org/drawingml/2006/main">
            <a:pPr algn="ctr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θₖ = 2πk/K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751446-5AB1-44F7-B18A-232BF590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51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Mỗi tia đi đến giao điểm đầu tiên với biên của instance chứa q.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15349-B075-41B0-8960-6DE6A993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636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7653E-1BBF-46F8-A068-8804EFF7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95500"/>
            <a:ext cx="586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rₖ(q) = max {t ≥ 0 : q + t(cos θₖ, sin θₖ) ∈ G(q)}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36061-D413-42D3-A822-66EE323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636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9B505-91D3-4286-9A3F-52C353AA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10000"/>
            <a:ext cx="586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vₖ(q) = q + r̂ₖ(q)(cos θₖ, sin θₖ)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5709E0-426A-4B20-A8DE-36C6DE9B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05300"/>
            <a:ext cx="586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Nối các đỉnh v₀...vₖ theo thứ tự góc để tạo polygon proposal.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54DFC-0718-46E3-ABC1-D85C08F4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Giới hạn: hình vòng, nhiều nhánh hoặc lõm sâu có thể không star-convex. Khi đó cần fine-tuning hoặc phương pháp khác.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152E0-D781-4BF1-8E2C-C11B3A5F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 lớn hơn mô tả biên tốt hơn nhưng tăng số kênh, bộ nhớ và số polygon cần xử lý.</a:t>
            </a:r>
          </a:p>
        </p:txBody>
      </p:sp>
    </p:spTree>
    <p:extLst>
      <p:ext uri="{BB962C8B-B14F-4D97-AF65-F5344CB8AC3E}">
        <p14:creationId xmlns:p14="http://schemas.microsoft.com/office/powerpoint/2010/main" val="105028591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533FD-1EEB-489B-A2D3-4390C988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Huấn luyện đa nhiệm và phạm vi cài đặt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B14D0-1088-4519-AE98-CA687922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49F8F-9035-4125-B0FC-4CD69744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143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EB13F-F882-4BED-AA88-78F42523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Objective điển hình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3717A-3C0D-4E65-B21F-0B5BEEFA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4381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L_prob = BCE(p, p̂)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L_dist = Σ p(q) ||r(q) - r̂(q)||₁ / (Σ p(q) + ε)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L = λp L_prob + λr L_dist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34F33F-8D78-4389-AD59-7362543B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143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224D3-76E5-496A-B3E7-B5587787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4533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Phạm vi của nhóm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09A62-8034-426A-8A6F-D34D5C1B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400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97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Tự cài: EDT chuẩn hoá, ray distance, polygon decode/NMS, matching và metric.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Tái sử dụng: CNN và pretrained weights từ StarDist chính thức.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Thí nghiệm chỉ inference, không train lại model.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9E246-8969-463D-8E03-15DF82BE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24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Probability target là EDT chuẩn hoá theo từng instance: cao gần tâm, thấp gần biên, nên proposal tâm thường ổn định hơn.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CEA67-4A05-4D8B-AA79-83753017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Phân biệt rõ phần tự cài đặt và thư viện pretrained là yêu cầu trung thực học thuật.</a:t>
            </a:r>
          </a:p>
        </p:txBody>
      </p:sp>
    </p:spTree>
    <p:extLst>
      <p:ext uri="{BB962C8B-B14F-4D97-AF65-F5344CB8AC3E}">
        <p14:creationId xmlns:p14="http://schemas.microsoft.com/office/powerpoint/2010/main" val="15216748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09735-0C8F-433A-8783-8F5D73C1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Suy luận và Non-Maximum Suppression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0A9C2-2E21-454A-96BF-8BD7C477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9D189-17CB-4F8B-B2F9-47D946E1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774F9-20F6-47CD-AFDD-CC51F5D7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DED8E-80DA-4A1B-A86A-19724C0B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47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27AC5-96BE-4DC1-8558-133BBDC9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811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480C0-82F0-4DB5-A475-09A3E834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Giữ pixel có p̂(q) ≥ t_p. Thí nghiệm dùng t_p = 0.479071.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EBE35-C2BB-4346-A7C2-2EAB76CD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A0AFED-BD5C-4A55-878D-9C78B920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1CBE0-9E11-4712-85B1-4D1E9A40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A044D-3897-4B55-8858-26BF22EB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811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Decode polygon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46C7B-C295-4073-9D75-FD1EB56E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955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Dùng r̂ₖ(q) tạo K đỉnh của proposal tại từng candidate.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4B057-A40A-464C-B3AE-64202CD4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7971B-F99A-4D88-92E0-D2EC2BD9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B32C75-3E72-4738-8B83-E13F5599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0FC6A-4C1B-48F1-B1C1-1CF22607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Sort theo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8F9E1-F68A-4D47-8D86-FF80BAA5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195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Xử lý proposal xác suất cao trước để ưu tiên tâm object đáng tin cậy.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4469C-44A7-498B-A8BF-0F9A3B2C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C62022-EA03-4192-A791-EB846D5C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CCC74D-40EC-4815-99F0-ACCFA537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8AEB0-DDFA-4EC5-9F23-499A552A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051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NMS + rasterize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CAA177-1316-42CF-B41C-4CEAEC66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6195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Loại overlap lớn hơn t_nms=0.3, giữ polygon còn lại thành Label Image.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A2EE1A-1054-4027-A57F-5E6A3A49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IoU(A,B) = |A ∩ B| / |A ∪ B|. t_p thấp gây nhiều positive giả, t_nms cao dễ giữ proposal trùng lặp.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5D4772-15C4-4173-A8FF-439763C9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NMS overlap khi inference khác với IoU threshold dùng để tính TP/FP/FN lúc đánh giá.</a:t>
            </a:r>
          </a:p>
        </p:txBody>
      </p:sp>
    </p:spTree>
    <p:extLst>
      <p:ext uri="{BB962C8B-B14F-4D97-AF65-F5344CB8AC3E}">
        <p14:creationId xmlns:p14="http://schemas.microsoft.com/office/powerpoint/2010/main" val="21227646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28C035-A84F-4562-9FDA-B640A136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Baseline 1: Otsu và connected components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15D7C-0214-4625-A55E-A72D9AAC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ADEBA2-4CA0-4180-B258-12F528BF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9530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02136-F3C5-4601-B90F-27087653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4305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t* = argmaxₜ σ²_B(t)</a:t>
            </a:r>
          </a:p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σ²_B(t) = ω₀(t)ω₁(t)[μ₀(t)-μ₁(t)]²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67841-0E26-4110-AC79-10D89797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4229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chọn ngưỡng tách histogram thành foreground/background. Sau đó morphology, lọc vùng nhỏ và connected components tạo label.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F1D6C-FF29-4EBA-81E7-517744F6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50863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75C2A-6F71-4845-AC8A-91E17B64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812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Điểm mạnh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465B2-0E93-49ED-99F1-C84C0639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193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Nhanh, không cần model, dễ giải thích.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24BED-3B1C-45BD-884A-4E3931D2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62300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Giới hạn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84D8E1-BF0A-456A-A33B-158DE3A0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4400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2456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Nền không đồng nhất làm histogram không bimodal. Object chạm nhau trở thành một component nên count/AP instance kém.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79D18-4CAA-4F4C-92CC-2E18BE18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Otsu có thể đạt Dice foreground khá cao nhưng vẫn gộp nhiều nhân và làm sai số đếm lớn.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DBA6C-216A-405C-B472-01072AB9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Implementation: src/xla_gr03/baselines.py.</a:t>
            </a:r>
          </a:p>
        </p:txBody>
      </p:sp>
    </p:spTree>
    <p:extLst>
      <p:ext uri="{BB962C8B-B14F-4D97-AF65-F5344CB8AC3E}">
        <p14:creationId xmlns:p14="http://schemas.microsoft.com/office/powerpoint/2010/main" val="184954449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7401D5-1C65-480C-8C54-76CD6743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Baseline 2: marker-controlled Watershed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82D6C-268A-4A9B-8927-64996FF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05F72-C932-4F1A-8B63-07FDCD29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86CAB-2B0C-4B40-AA7B-7A6B2D87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92A0F-795E-4751-AB4C-6D4DB403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Foreground mask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C8713-BD4D-44A2-B8A0-33BE3EBA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Otsu + morphology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9EC567-902F-42BD-BFD8-58F9EA0C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238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71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D51D2-5701-459A-8E77-3F9C97C4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192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A37E2-08A5-4F34-9D01-6072579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90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4E277-AA82-425E-BF97-56033423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28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EDT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D2475-ACE8-44A5-8A52-AEEA8C18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09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 = EDT(F)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3849E-5CA7-4E2D-A1BF-45D8E117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38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71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D8F4F-7748-4FA9-834C-BE7E67CD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6931C-A3EA-4796-B9C9-EF6ADE8F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90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93EE7-BF93-4A31-9225-E74B78C2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28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Markers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11FDCE-12F4-44EB-8393-BCD8B619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local maxima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477AB-A8D0-406F-A588-C7B8CFA7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38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71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5EA5CB-98A8-4AE8-8426-E9BB1618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192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E57737-DCEE-4C69-8739-7CD5990A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90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3CB79-ED51-4B0A-8C36-1FDAA20C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28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9DBBE-2A64-4945-B150-5428828B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09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trên -D trong 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F42D1-82A8-45A6-938F-D359EFB0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38375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71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CEFB4E-B559-4528-B62F-24AFAA94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19250"/>
            <a:ext cx="1943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215C9-1D8E-40D9-B065-1079E2A2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90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99F77-CB50-4396-A685-0A6547B0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28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Relabel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CC3F85-C532-4A47-A7FB-7E512487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098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instance TIFF</a:t>
            </a:r>
          </a:p>
        </p:txBody>
      </p:sp>
      <p:graphicFrame>
        <p:nvGraphicFramePr>
          <p:cNvPr id="58" name="Chart"/>
          <p:cNvGraphicFramePr/>
          <p:nvPr/>
        </p:nvGraphicFramePr>
        <p:xfrm>
          <a:off xmlns:a="http://schemas.openxmlformats.org/drawingml/2006/main" x="1066800" y="3524250"/>
          <a:ext xmlns:a="http://schemas.openxmlformats.org/drawingml/2006/main" cx="6096000" cy="2047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c934de441e4e2c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483E63-1290-486E-98B8-A05B36D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57600"/>
            <a:ext cx="32194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16E351-61E7-4669-9485-2CE9A32A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43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Chọn min_distance = 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5C6A1-CC29-476E-9077-66FB3165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5770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7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N=30 ảnh validation. Không chọn tham số trên 50 test images.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AFE35-C088-49D7-A712-272562A7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Watershed cải thiện tách blob chạm nhau, nhưng nhạy marker, nhiễu và khoảng cách cực đại.</a:t>
            </a:r>
          </a:p>
        </p:txBody>
      </p:sp>
    </p:spTree>
    <p:extLst>
      <p:ext uri="{BB962C8B-B14F-4D97-AF65-F5344CB8AC3E}">
        <p14:creationId xmlns:p14="http://schemas.microsoft.com/office/powerpoint/2010/main" val="11978298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C57CC-9FDA-40E7-ADA7-D3DD6A0B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Đánh giá instance: IoU, Hungarian matching, TP/FP/FN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A481C8-DE18-4B37-B761-DB6313EA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BABC4-3683-4C9A-B17A-62A3173C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66759-88E9-4268-8B54-3B8F3DF6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0C445-7AB9-42EE-B1F2-65653AB2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AC563-D8D9-4832-8A6C-3DDD548C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240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Bỏ nền ID=0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FBEB9-602C-4836-8D7D-2A6A4F37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383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Lấy mỗi GT Gᵢ và prediction Pⱼ là một object.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1F4FB-B0C3-4D0F-A4BA-2B4A88FC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621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4F73A-7F9A-4EE9-90BA-A84FD809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33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E6024-2D88-4A9B-89DC-E22AE9D4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589FC-E20E-4203-AE7F-2B469B77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7240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Ma trận IoU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E289A-942F-418D-A90F-5E5054BC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0383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Jᵢⱼ = |Gᵢ ∩ Pⱼ| / |Gᵢ ∪ Pⱼ| cho mọi cặp object.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18C2A-A09E-4490-8E40-64FE5E7F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C5C93-4117-4F06-942B-DAE57E55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2FC6C-F7CA-4C53-BC81-FE4EDE34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38365-2B8D-45D3-B850-4F45CAE9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480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Ghép một-một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A194F6-3EFE-4163-BEAC-E783299B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623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Hungarian assignment tối đa tổng IoU, không cho một object ghép nhiều lần.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39A95-AF7D-434C-87E5-5CDE2847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48454-DD20-4F65-B687-A5637353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57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95263-4284-4949-88AE-4882D42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6BB33-5281-4F3E-875F-D86B8CAA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4802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Phân loại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4F62A3-0A17-4922-9828-61D4A90B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6235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Cặp có Jᵢⱼ ≥ τ là TP. GT chưa ghép là FN, prediction chưa ghép là FP.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DC7AE2-CE7D-4A5D-B6F2-75964EF1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95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3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Một prediction gộp hai nhân chỉ ghép được tối đa một GT. Nhân còn lại trở thành FN, nên metric phản ánh lỗi merge/split.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E9F734-155C-4518-90D8-169EBA22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Ngưỡng τ được báo cáo tại 0.50, 0.75 và 0.90.</a:t>
            </a:r>
          </a:p>
        </p:txBody>
      </p:sp>
    </p:spTree>
    <p:extLst>
      <p:ext uri="{BB962C8B-B14F-4D97-AF65-F5344CB8AC3E}">
        <p14:creationId xmlns:p14="http://schemas.microsoft.com/office/powerpoint/2010/main" val="20828184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D7CB6-D18E-4F18-9812-B6AB4122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Metric định lượng và cách đọc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0B208-3CDC-4E7C-AB21-1936C392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075BE-71A0-4475-A199-FAC1B353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076C5-EA78-4D4C-BE31-D9307460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73953-40B5-43FA-8E3F-AD6319A9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APτ = TP / (TP + FP + FN).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Đo khả năng phát hiện instance đúng ở IoU τ.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A2C2C-143F-41BC-9C42-2179FB23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290BC-E739-461D-9138-65D9BE0F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PQτ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0753E-7498-4D0C-AD05-96FCBA93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PQτ = ΣIoU(TP) / [TP + 0.5FP + 0.5FN].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Kết hợp detection và chất lượng mask.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6A68E-21C0-47AF-B970-3074167D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EA924-1918-49A3-B537-9E0811A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Dice + MAE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63872-B0FB-414B-9200-98165B8A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Dice đo foreground gộp.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MAE = |N_pred - N_GT| đo sai số đếm. Không thay thế AP/PQ.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62E05-825E-44DD-AECB-B4B02A097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AP@0.90 khắt khe về biên hơn AP@0.50. Vì vậy không kết luận chất lượng instance chỉ từ một ngưỡng hoặc chỉ từ Dice.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B1AE3-4177-4580-A976-F31883F1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Mọi metric tính từng ảnh rồi báo cáo mean ± SD trong đúng stratum n=50 hoặc n=3.</a:t>
            </a:r>
          </a:p>
        </p:txBody>
      </p:sp>
    </p:spTree>
    <p:extLst>
      <p:ext uri="{BB962C8B-B14F-4D97-AF65-F5344CB8AC3E}">
        <p14:creationId xmlns:p14="http://schemas.microsoft.com/office/powerpoint/2010/main" val="146105800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BEE00B-9D89-4153-93A2-3C2689E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ImageJ, Fiji và plugin StarDist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675E6A-B534-4A50-8FDB-3B151B9A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Fiji là nền tảng tham chiếu trực quan và kiểm chứng, không thay thế evaluator định lượng.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62FAB-6B2A-41F6-9DA7-98E245A3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6BC91-CE37-4A81-9713-5C666E6F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6DCA9D-DEDB-4E7C-BBEC-E548D03F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ImageJ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FD17C-B63F-46A7-858C-54A1F269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Nền tảng xử lý ảnh: ImagePlus, ROI Manager, Macro Recorder và hệ plugin.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6901D-454C-4FD8-AC01-AF261F4A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BAAC3-072F-4753-9CCC-5C30E1F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Fiji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12433-91E1-4024-BF08-2E5EA35D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Bản phân phối ImageJ cho khoa học, có cơ chế update site và nhiều plugin sinh học.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291ED-EF56-4CCF-A5B6-F6678518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298BF-73EB-42BD-AAFE-CFBAFA56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StarDist plugin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C8BC5-081B-4BD9-9577-00D4EA96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Inference model 2D pretrained/custom, normalization, threshold, tile và output Label Image/ROI.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9C768-A134-4BE3-892A-C33266F9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36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Artifact dùng trong kiểm chứng: de.csbdresden:StarDist_:0.3.0-scijava | ImageJ 2.9.0 + legacy 1.53t | Java 8 | TensorFlow 1.12 CPU.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2D4A1-3861-4E4A-BEE8-74506CDE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ROI Manager hữu ích để quan sát; Label Image TIFF mới là đầu vào chuẩn để tính metric.</a:t>
            </a:r>
          </a:p>
        </p:txBody>
      </p:sp>
    </p:spTree>
    <p:extLst>
      <p:ext uri="{BB962C8B-B14F-4D97-AF65-F5344CB8AC3E}">
        <p14:creationId xmlns:p14="http://schemas.microsoft.com/office/powerpoint/2010/main" val="149554666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5AF34-6583-4D6D-A82B-6C6DFE46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Fiji/ImageJ: cài plugin và kiểm tra ảnh đầu vào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B0DFC-C8B0-4B47-9B8F-2AD99F92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D1CEF-C536-48A5-9567-4B4B0503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574A9-BB9F-4CD8-96B2-807E7543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383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C630C-CE07-432E-AFDB-4D487CB1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0DCBD-EC10-415B-B0F0-DED3BFF3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287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Fiji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50A89B-65AF-4A1B-89DF-A3CDB167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431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Dùng bản stable. Mở Help &gt; About Fiji và lưu phiên bản.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74569-7F90-43BD-9552-D0955F4E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668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88959-F6CB-4CEA-9F2A-8A4AE802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158B6-6054-40D9-8733-8B1160FC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54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079D8-C9FC-43D7-9154-927A4511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287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Bật update site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9F8-AF8C-4351-8B24-11943AE1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431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Help &gt; Update... &gt; Manage update sites. Bật CSBDeep, StarDist, TensorFlow. Apply changes rồi restart.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E22B2-33EF-40C7-ABFC-EA01397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866BE-1272-49FF-BE5B-B300B01F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ACCCEA-459C-4922-81F5-DAA415C3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95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6E904-13E1-4C5C-96FE-8EAE7D6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289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Mở TIFF 2D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A71312-E5D7-4687-A0BC-0C501BD8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433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File &gt; Open. Giữ nguyên kích thước và pixel scale, không resize một phía.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DEE95-DA70-49DE-A554-105CC7E0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67050"/>
            <a:ext cx="5048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5EAE6-2794-4394-B39C-B38DCA8F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38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6E18F-3540-46A5-BB24-6B64F928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956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9B896-289A-4B5C-BD59-F23DAE15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28975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Kiểm tra metadata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84B1AD-6E6E-4397-A965-21D8BEC0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43300"/>
            <a:ext cx="4133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Image &gt; Show Info...: file name, width, height, bit depth, channel. Lưu thông tin vào run log.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3345E-EFC7-424A-A2B7-07DE368F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96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Chỉ bắt đầu inference khi input TIFF, ground truth và quy ước pixel đã thống nhất. Screenshot không phải dữ liệu định lượng.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683E3-3FA6-4CCA-8D71-2A9723F9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Quy trình thao tác đầy đủ: fiji/workflows/stardist_fiji_protocol.md.</a:t>
            </a:r>
          </a:p>
        </p:txBody>
      </p:sp>
    </p:spTree>
    <p:extLst>
      <p:ext uri="{BB962C8B-B14F-4D97-AF65-F5344CB8AC3E}">
        <p14:creationId xmlns:p14="http://schemas.microsoft.com/office/powerpoint/2010/main" val="73077578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03A79-728B-4B70-B712-2DFB8604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Fiji/ImageJ: chạy StarDist 2D và lưu Label Image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6CB5E-0BEA-4AB6-B186-13B28931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7E180-855D-46E8-874D-40E204AF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91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Plugins &gt; StarDist &gt; StarDist 2D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84C62-53EE-46DC-B267-934EF2F7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08204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0adc90ba0490d"/>
          <a:stretch xmlns:a="http://schemas.openxmlformats.org/drawingml/2006/main"/>
        </p:blipFill>
        <p:spPr>
          <a:xfrm xmlns:a="http://schemas.openxmlformats.org/drawingml/2006/main">
            <a:off x="2819042" y="1695450"/>
            <a:ext cx="6553915" cy="36576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C140C-0958-4E9A-B926-CCBBEAC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10706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7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Model: Versatile (fluorescent nuclei) | percentile 1/99.8 | probability 0.479071 | NMS 0.3 | tiles 1 | exclude boundary 2 px | chọn Output: Label 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30698-6098-4C54-9402-9825776C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Sau khi label xuất hiện: kiểm tra cùng kích thước với input/GT, quan sát overlay, Save As TIFF không nén và ghi runtime.</a:t>
            </a:r>
          </a:p>
        </p:txBody>
      </p:sp>
    </p:spTree>
    <p:extLst>
      <p:ext uri="{BB962C8B-B14F-4D97-AF65-F5344CB8AC3E}">
        <p14:creationId xmlns:p14="http://schemas.microsoft.com/office/powerpoint/2010/main" val="160870357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AB59C-B16B-421C-98D3-830D1DCC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Fiji/ImageJ: kiểm chứng bằng chính Label TIFF plugin xuất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6C485-DA6C-4D83-9A3B-962067D6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80C24-7FEA-4659-90C0-F25C3A93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7620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4da9ed99e647c9"/>
          <a:stretch xmlns:a="http://schemas.openxmlformats.org/drawingml/2006/main"/>
        </p:blipFill>
        <p:spPr>
          <a:xfrm xmlns:a="http://schemas.openxmlformats.org/drawingml/2006/main">
            <a:off x="2550926" y="1466850"/>
            <a:ext cx="3889749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12113-352F-47FE-92EB-6EC07B90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71600"/>
            <a:ext cx="28765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D772F-5BA6-4DFC-8E43-06B35E58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Quy trình đối chiếu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E9568-FDB1-42BB-81DC-033F7D73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2669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0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1. Lưu Label Image TIFF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2. Python đọc trực tiếp TIFF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3. Hungarian matching với ground truth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4. Xuất TP, FP, FN, AP, PQ, Dice, MAE,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D6808-6074-4FD4-A260-B3B6521C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62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 = 3 fixed cases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AP@.50 = .801 ± .244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PQ@.50 = .788 ± .160</a:t>
            </a:r>
          </a:p>
          <a:p xmlns:a="http://schemas.openxmlformats.org/drawingml/2006/main">
            <a:pPr algn="ctr">
              <a:defRPr sz="12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Dice = .950 ± .017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F7FB5-0AA5-4A8E-A62E-1FE2EC5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2410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2410C"/>
                </a:solidFill>
                <a:latin typeface="Arial"/>
                <a:ea typeface="Arial"/>
                <a:cs typeface="Arial"/>
              </a:rPr>
              <a:t>Không gộp số liệu này với benchmark n=50. Mục tiêu là kiểm tra workflow cross-platform.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FD405-C1F6-4E54-91A6-0C8C00A7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Evidence: results/fiji_labels/, results/fiji_reference/per_image_metrics.csv, fiji/run_log_dsb2018_reference.csv.</a:t>
            </a:r>
          </a:p>
        </p:txBody>
      </p:sp>
    </p:spTree>
    <p:extLst>
      <p:ext uri="{BB962C8B-B14F-4D97-AF65-F5344CB8AC3E}">
        <p14:creationId xmlns:p14="http://schemas.microsoft.com/office/powerpoint/2010/main" val="210756456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609FDB-79CF-4079-9564-5947D018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đặt Python: kiến trúc package xla_gr03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2EFB6-A557-4E82-A714-5A9BFBC0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D3C7E-6DEA-4E5F-ACF2-7B99E404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5197B0-8AE6-4622-876A-370F60F8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811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preprocessing.py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802FD-0012-4643-BCCC-1D33BF21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grayscale + percentile normalize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2C0B4-1D9B-4B84-BF6A-0C63CDAA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F86B2-6637-4CD1-953E-763694D3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5811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baselines.py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30E87-00C4-4CE4-9628-C6F69C7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145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Otsu, morphology, EDT, Watershed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A8872-FE44-417A-8EFB-DC0466F2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BEC7C-972D-434E-BC34-3E6E79E6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geometry.py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53C6D-11FF-4263-8DC2-4AE0D566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337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EDT target, ray, polygon decode, NMS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AA505-2D86-4300-9C97-D7F7C75F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A579C-94D2-4AE9-BF28-42EE16BF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metrics.py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873C8-CEDA-4BCD-9D34-AF895744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337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IoU matrix, Hungarian, AP/PQ/Dice/MAE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E9168-263A-4D3F-9FB1-FD30EA57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BCAF8-B089-40EC-83EB-0F3C2A51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stardist_pipeline.py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BEE48-1396-4282-A1AB-04EEDA4B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29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wrapper model 2D_versatile_fluo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24B90-961F-4629-9677-5D6ED425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495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5E8C4-403D-4BDE-A2CA-E58CBD6F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453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1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io.py + cli.py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6787BA-409A-40F2-A562-657B8D7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52925"/>
            <a:ext cx="453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TIFF labels, segment/evaluate commands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A5050-3C31-4E33-A3D7-D253DB20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Chuẩn giao tiếp chung: mọi phương pháp trả Label TIFF integer 2D, sau đó đi qua cùng evaluator instance.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0B232-73A8-4780-BBCC-D2FAE794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Source: src/xla_gr03/ | Test bao phủ geometry, preprocessing, I/O, baseline và metric.</a:t>
            </a:r>
          </a:p>
        </p:txBody>
      </p:sp>
    </p:spTree>
    <p:extLst>
      <p:ext uri="{BB962C8B-B14F-4D97-AF65-F5344CB8AC3E}">
        <p14:creationId xmlns:p14="http://schemas.microsoft.com/office/powerpoint/2010/main" val="3391942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35FE9A-1C5B-4FBB-ABCE-C7705349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đặt Python: chạy pipeline, đánh giá và kiểm thử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1FEC3-ED40-4407-B942-61E8A477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61FA1-3498-4432-97B8-A95B4728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1. Tạo môi trường và cài dependency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8388E-F6D3-4830-B622-683A5EFC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5124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8EF88-DB9B-4318-A7AA-F7240391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705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python -m venv .venv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.venv\Scripts\python.exe -m pip install -e ".[dev,stardist]"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2AAA1-0289-4E92-917D-C4450D27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668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2. Phân đoạn và đánh giá một ảnh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E0C9A-1BA6-41AF-8C17-6DBE0D6A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5124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AAFC3D-2DC3-4ADA-9B0F-DAE3FF93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57400"/>
            <a:ext cx="4705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xla-gr03 segment input.tif output.tif --method otsu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xla-gr03 evaluate ground_truth.tif output.tif --thresholds 0.5 0.75 0.9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044D8-CFB4-4D0F-831A-BA21A906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3. Sinh benchmark và bằng chứng Fiji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12E63-3496-45CF-BFFB-0142D7A8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124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41B9D-EF18-4A4A-A2B5-B1C6DE47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705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python scripts/run_dsb2018_benchmark.py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python scripts/evaluate_fiji_reference.py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python scripts/build_fiji_workflow_evidence.py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3833D-7A2A-4C6E-B683-94215288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86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4. Kiểm thử chất lượng mã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D5290-671E-45F5-8659-B0BA86DD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05250"/>
            <a:ext cx="5124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75062-A8AE-4DAE-AAA9-5893CEB6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76700"/>
            <a:ext cx="4705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.venv\Scripts\python.exe -m pytest -q</a:t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.venv\Scripts\ruff.exe check src tests scripts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E6F2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6F2FF"/>
                </a:solidFill>
                <a:latin typeface="Arial"/>
                <a:ea typeface="Arial"/>
                <a:cs typeface="Arial"/>
              </a:rPr>
              <a:t>Kết quả hiện có: 23 tests passed, coverage 89%.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3C86AD-D0D1-4993-8455-1966D247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Code, CSV, TIFF labels, provenance và figure được lưu dưới results/ để tái lập.</a:t>
            </a:r>
          </a:p>
        </p:txBody>
      </p:sp>
    </p:spTree>
    <p:extLst>
      <p:ext uri="{BB962C8B-B14F-4D97-AF65-F5344CB8AC3E}">
        <p14:creationId xmlns:p14="http://schemas.microsoft.com/office/powerpoint/2010/main" val="83666552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E1A35-BF00-4605-9876-8A1C9B04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Kết quả định lượng: benchmark DSB2018 n=50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CB9B3-F301-44FD-B705-95F077E2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Ba phương pháp chạy trên cùng test split. Fiji n=3 không xuất hiện trong biểu đồ này.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736C8-2502-42AD-8D6A-4370A10B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63627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aaa406a32946b4"/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7467600" y="1676400"/>
          <a:ext xmlns:a="http://schemas.openxmlformats.org/drawingml/2006/main" cx="4038600" cy="2628900"/>
        </p:xfrm>
        <a:graphic xmlns:a="http://schemas.openxmlformats.org/drawingml/2006/main">
          <a:graphicData uri="http://schemas.openxmlformats.org/drawingml/2006/table">
            <a:tbl>
              <a:tblPr firstRow="1" firstCol="1" bandRow="1"/>
              <a:tblGrid>
                <a:gridCol w="1466850"/>
                <a:gridCol w="742950"/>
                <a:gridCol w="723900"/>
                <a:gridCol w="1104900"/>
              </a:tblGrid>
              <a:tr h="6572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Dice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MAE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Runtime s/img</a:t>
                      </a:r>
                    </a:p>
                  </a:txBody>
                  <a:tcPr marL="91440" marR="91440" marT="45720" marB="45720">
                    <a:solidFill>
                      <a:srgbClr val="0B1F3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Otsu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.895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14.06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.0100</a:t>
                      </a:r>
                    </a:p>
                  </a:txBody>
                  <a:tcPr marL="91440" marR="91440" marT="45720" marB="45720"/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Watershed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.894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6.94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.0238</a:t>
                      </a:r>
                    </a:p>
                  </a:txBody>
                  <a:tcPr marL="91440" marR="91440" marT="45720" marB="45720"/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StarDist Python</a:t>
                      </a:r>
                    </a:p>
                  </a:txBody>
                  <a:tcPr marL="91440" marR="91440" marT="45720" marB="45720"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.916</a:t>
                      </a:r>
                    </a:p>
                  </a:txBody>
                  <a:tcPr marL="91440" marR="91440" marT="45720" marB="45720"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3.44</a:t>
                      </a:r>
                    </a:p>
                  </a:txBody>
                  <a:tcPr marL="91440" marR="91440" marT="45720" marB="45720">
                    <a:solidFill>
                      <a:srgbClr val="E7F4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4213D"/>
                          </a:solidFill>
                          <a:latin typeface="Arial"/>
                          <a:ea typeface="Arial"/>
                          <a:cs typeface="Arial"/>
                        </a:rPr>
                        <a:t>.1120</a:t>
                      </a:r>
                    </a:p>
                  </a:txBody>
                  <a:tcPr marL="91440" marR="91440" marT="45720" marB="45720">
                    <a:solidFill>
                      <a:srgbClr val="E7F4E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341E5-D49E-40FA-85F2-BF061685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39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Kết luận n=50: StarDist tăng AP/PQ, giảm MAE đếm. Đổi lại runtime CPU cao hơn Watershed vì có CNN và polygon NMS.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0DCFF-CDFE-47E4-899B-BFF695C1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trên 50 test images. AP/PQ có SD trong report và results/dsb2018_benchmark/summary_metrics.csv.</a:t>
            </a:r>
          </a:p>
        </p:txBody>
      </p:sp>
    </p:spTree>
    <p:extLst>
      <p:ext uri="{BB962C8B-B14F-4D97-AF65-F5344CB8AC3E}">
        <p14:creationId xmlns:p14="http://schemas.microsoft.com/office/powerpoint/2010/main" val="57306343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52F0C9-247B-4A20-ABF7-47F6ABC6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Kết quả định tính: case trung vị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F546D-664E-4DA0-AF05-58782890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Case được chọn theo AP@0.50 của StarDist để tránh chỉ chọn ví dụ thuận lợi.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25D3F-D5E2-412D-98A4-D95660FE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95D6F-343C-4BFB-8A97-8DFDDBDF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8276fa738487b"/>
          <a:stretch xmlns:a="http://schemas.openxmlformats.org/drawingml/2006/main"/>
        </p:blipFill>
        <p:spPr>
          <a:xfrm xmlns:a="http://schemas.openxmlformats.org/drawingml/2006/main">
            <a:off x="742950" y="1470293"/>
            <a:ext cx="10706100" cy="222196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FCFBA-7517-4F3F-999B-F386B9B4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3B448-2E3C-444A-B9F7-830D699A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CBC3D-FC5A-4E2F-8641-97896835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Foreground mask có thể đẹp nhưng nhiều nhân tiếp xúc bị merge thành một component.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587DF-F102-4BBA-8417-40CE0638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C7658-868C-4C28-AAC6-33654A2F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932C3-F8B1-43D7-AE2F-425C83A6B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EDT marker tách được một phần blob chạm nhau. Sai phụ thuộc min_distance và local maxima.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18538-EBEF-4A98-B82F-6DC29B3D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32194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17B66-87B5-440B-A37A-EE97120B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764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StarDist Python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26B1E-E460-471B-B5DE-2765713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26098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Polygon learned bám mỗi instance tốt hơn trên case này, đồng thời giảm sai số đếm toàn benchmark.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A9AF9-0C85-4435-BBB7-71A57F94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Màu biểu diễn ID instance, không phải lớp semantic. Evidence: qualitative_median.png.</a:t>
            </a:r>
          </a:p>
        </p:txBody>
      </p:sp>
    </p:spTree>
    <p:extLst>
      <p:ext uri="{BB962C8B-B14F-4D97-AF65-F5344CB8AC3E}">
        <p14:creationId xmlns:p14="http://schemas.microsoft.com/office/powerpoint/2010/main" val="800544376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90F8C7-DE34-461C-97EE-92028F60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Giới hạn và case khó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29DEF9-1464-4304-9551-4EB6DD81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Báo cáo cả case có AP@0.50 thấp để đánh giá không bị cherry-pick.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412B5-1FFA-4050-88FD-C3AA7C51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572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E7FDC-B167-466D-BFDB-CC355047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f6bce80544ad2"/>
          <a:stretch xmlns:a="http://schemas.openxmlformats.org/drawingml/2006/main"/>
        </p:blipFill>
        <p:spPr>
          <a:xfrm xmlns:a="http://schemas.openxmlformats.org/drawingml/2006/main">
            <a:off x="989816" y="1485900"/>
            <a:ext cx="10212368" cy="23622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3584E-529C-487D-9BC4-481AD176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1C549-42D1-438F-AEE9-E18D8AA6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C2E01-4FF7-476E-83B4-144962C1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27EBA-55FA-4D01-81FE-598BBC77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Model pretrained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25AAE-5FE0-4DB4-A4E0-33466944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Có thể lệch với stain, microscope hoặc modality mới nếu không fine-tune.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F0D73-7522-4604-8A9E-77C8AC2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815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CB466-F234-47DC-B988-4067F01D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52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0CF86-6DB5-44DE-A0EE-956F09CD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10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A747F-D991-43C0-B32A-44B6DD17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5434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Hình học star-convex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36E3E-61FB-4CAF-9ED5-A23BBF68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8577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24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phù hợp hình vòng, phân nhánh hoặc lõm sâu dù threshold đúng.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72FCA-9126-4236-A4F6-E66AB7E1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815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2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82089-570D-4B8C-B80D-6F7B2D14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52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5DF48-803E-457B-B802-E514FD27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10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87872B-65E1-4F3A-BFB8-BFB04708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434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Tái lập cross-platform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D80F37-C6AD-4038-A4AD-246901DA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577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8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Khác version, normalization, tile hoặc NMS có thể làm label Fiji/Python khác nhau.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B69240-B419-4EE5-A304-41FA95C3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Hướng phát triển: fine-tuning annotation nội bộ, ablation số tia, robustness noise và đánh giá 3D.</a:t>
            </a:r>
          </a:p>
        </p:txBody>
      </p:sp>
    </p:spTree>
    <p:extLst>
      <p:ext uri="{BB962C8B-B14F-4D97-AF65-F5344CB8AC3E}">
        <p14:creationId xmlns:p14="http://schemas.microsoft.com/office/powerpoint/2010/main" val="13540914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1E55C-91FE-482B-ABA3-4383FC5F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83B48-018C-495E-9FE2-1FD51421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010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D1061-B3A5-4F5B-B8DB-2D36AE1C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51A92-012E-48B9-82F9-B05B9B1D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6BC0F-B733-4899-AD40-172C49F8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811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Thuật toán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5693C-3AEF-47CA-B94E-99C9DC9F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095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StarDist biến probability map và K ray distances thành polygon instance qua NMS.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AE390-E7A6-48E6-84EA-7A8DA2DB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5010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1602E-1A08-4F45-8E6A-B033D030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907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5C489-F06F-4966-9957-ADA15C7E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46002-F29B-45AE-A99D-3AD31D76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811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Thực nghiệm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47B3E-E281-4475-A9D2-C8321A69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955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StarDist Python đạt AP@.50 .853 và PQ .785 trên DSB2018 n=50, cao hơn hai baseline.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FA9D2-010B-41E2-A159-1E78C78A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010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EA5A9-433D-4038-895A-32E5E90B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0BD50-16F1-4344-868E-8584C9D6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677BE-4E32-4493-B6AC-D7FA94DD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00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06249D-12BE-43E2-A0EE-5A11B1BD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14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Plugin thật tạo Label TIFF, run log và metric n=3 để kiểm chứng workflow cross-platform.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33A7FE-F4F5-48AD-81DD-33319BBE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5010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6C2CE6-C48E-4F31-96F4-AF9D55BF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99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65F97-65DE-43D3-9EE9-3E291B53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67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3A702-0D22-4094-A07B-2FDEA458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00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Tái lập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8EB96-9E77-4D74-9EBA-06851ACC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147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Repo có dataset versioned, Python package, Java runner, macro, test, CSV, TIFF và figures.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74FC2-A048-4951-92E5-87656706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8CAE4"/>
                </a:solidFill>
                <a:latin typeface="Arial"/>
                <a:ea typeface="Arial"/>
                <a:cs typeface="Arial"/>
              </a:rPr>
              <a:t>Thông điệp chính: đánh giá instance phải dùng matching theo object. Foreground Dice một mình không đủ kết luận khả năng tách đối tượng.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F0652-3E92-4559-8C3F-643A976B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0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Cảm ơn</a:t>
            </a:r>
          </a:p>
        </p:txBody>
      </p:sp>
    </p:spTree>
    <p:extLst>
      <p:ext uri="{BB962C8B-B14F-4D97-AF65-F5344CB8AC3E}">
        <p14:creationId xmlns:p14="http://schemas.microsoft.com/office/powerpoint/2010/main" val="78646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2026-10-04T05:59:40.1090000Z</dcterms:created>
  <dcterms:modified xsi:type="dcterms:W3CDTF">2026-10-04T05:59:40.1090000Z</dcterms:modified>
</coreProperties>
</file>