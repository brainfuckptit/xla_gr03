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d170419dad4e69" /><Relationship Type="http://schemas.openxmlformats.org/officeDocument/2006/relationships/extended-properties" Target="/docProps/app.xml" Id="Rb79b2282cf784d0e" /><Relationship Type="http://schemas.openxmlformats.org/officeDocument/2006/relationships/officeDocument" Target="/ppt/presentation.xml" Id="R2d2aa487e0d24d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5259670c1e4a56"/>
  </p:sldMasterIdLst>
  <p:notesMasterIdLst>
    <p:notesMasterId xmlns:r="http://schemas.openxmlformats.org/officeDocument/2006/relationships" r:id="Re10156cfcf7649dc"/>
  </p:notesMasterIdLst>
  <p:sldIdLst>
    <p:sldId xmlns:r="http://schemas.openxmlformats.org/officeDocument/2006/relationships" id="256" r:id="R4ebd2471a42d4887"/>
    <p:sldId xmlns:r="http://schemas.openxmlformats.org/officeDocument/2006/relationships" id="257" r:id="R4db122d35f654473"/>
    <p:sldId xmlns:r="http://schemas.openxmlformats.org/officeDocument/2006/relationships" id="258" r:id="Rb94c2065be17430c"/>
    <p:sldId xmlns:r="http://schemas.openxmlformats.org/officeDocument/2006/relationships" id="259" r:id="Ra343d0586b474506"/>
    <p:sldId xmlns:r="http://schemas.openxmlformats.org/officeDocument/2006/relationships" id="260" r:id="Rd7ca0f1927f84be5"/>
    <p:sldId xmlns:r="http://schemas.openxmlformats.org/officeDocument/2006/relationships" id="261" r:id="R3302cc88d44b40be"/>
    <p:sldId xmlns:r="http://schemas.openxmlformats.org/officeDocument/2006/relationships" id="262" r:id="R9f097c60426c4c75"/>
    <p:sldId xmlns:r="http://schemas.openxmlformats.org/officeDocument/2006/relationships" id="263" r:id="R7e9e795bdee94811"/>
    <p:sldId xmlns:r="http://schemas.openxmlformats.org/officeDocument/2006/relationships" id="264" r:id="R38248335cb17430a"/>
    <p:sldId xmlns:r="http://schemas.openxmlformats.org/officeDocument/2006/relationships" id="265" r:id="R17b40ec02d6647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9881c9288040bf" /><Relationship Type="http://schemas.openxmlformats.org/officeDocument/2006/relationships/slideMaster" Target="/ppt/slideMasters/slideMaster1.xml" Id="Rcf5259670c1e4a56" /><Relationship Type="http://schemas.openxmlformats.org/officeDocument/2006/relationships/notesMaster" Target="/ppt/notesMasters/notesMaster1.xml" Id="Re10156cfcf7649dc" /><Relationship Type="http://schemas.openxmlformats.org/officeDocument/2006/relationships/presProps" Target="/ppt/presProps.xml" Id="R39612f19520a45e4" /><Relationship Type="http://schemas.openxmlformats.org/officeDocument/2006/relationships/tableStyles" Target="/ppt/tableStyles.xml" Id="R35975a59f05547dd" /><Relationship Type="http://schemas.openxmlformats.org/officeDocument/2006/relationships/slide" Target="/ppt/slides/slide1.xml" Id="R4ebd2471a42d4887" /><Relationship Type="http://schemas.openxmlformats.org/officeDocument/2006/relationships/slide" Target="/ppt/slides/slide2.xml" Id="R4db122d35f654473" /><Relationship Type="http://schemas.openxmlformats.org/officeDocument/2006/relationships/slide" Target="/ppt/slides/slide3.xml" Id="Rb94c2065be17430c" /><Relationship Type="http://schemas.openxmlformats.org/officeDocument/2006/relationships/slide" Target="/ppt/slides/slide4.xml" Id="Ra343d0586b474506" /><Relationship Type="http://schemas.openxmlformats.org/officeDocument/2006/relationships/slide" Target="/ppt/slides/slide5.xml" Id="Rd7ca0f1927f84be5" /><Relationship Type="http://schemas.openxmlformats.org/officeDocument/2006/relationships/slide" Target="/ppt/slides/slide6.xml" Id="R3302cc88d44b40be" /><Relationship Type="http://schemas.openxmlformats.org/officeDocument/2006/relationships/slide" Target="/ppt/slides/slide7.xml" Id="R9f097c60426c4c75" /><Relationship Type="http://schemas.openxmlformats.org/officeDocument/2006/relationships/slide" Target="/ppt/slides/slide8.xml" Id="R7e9e795bdee94811" /><Relationship Type="http://schemas.openxmlformats.org/officeDocument/2006/relationships/slide" Target="/ppt/slides/slide9.xml" Id="R38248335cb17430a" /><Relationship Type="http://schemas.openxmlformats.org/officeDocument/2006/relationships/slide" Target="/ppt/slides/slide10.xml" Id="R17b40ec02d6647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6dd1e85eb44d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b95c7a3cf4820" /><Relationship Type="http://schemas.openxmlformats.org/officeDocument/2006/relationships/notesMaster" Target="/ppt/notesMasters/notesMaster1.xml" Id="Rfbd396ade70840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80f02d19d64c12" /><Relationship Type="http://schemas.openxmlformats.org/officeDocument/2006/relationships/notesMaster" Target="/ppt/notesMasters/notesMaster1.xml" Id="R92e2f5a4438645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d22150237e4032" /><Relationship Type="http://schemas.openxmlformats.org/officeDocument/2006/relationships/notesMaster" Target="/ppt/notesMasters/notesMaster1.xml" Id="R9376ff11cfde42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0dc76508ac4368" /><Relationship Type="http://schemas.openxmlformats.org/officeDocument/2006/relationships/notesMaster" Target="/ppt/notesMasters/notesMaster1.xml" Id="R70830ffc13d94c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d45334f40e4092" /><Relationship Type="http://schemas.openxmlformats.org/officeDocument/2006/relationships/notesMaster" Target="/ppt/notesMasters/notesMaster1.xml" Id="Rc0a0b88eb2fd4b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f01ec1f0cd416d" /><Relationship Type="http://schemas.openxmlformats.org/officeDocument/2006/relationships/notesMaster" Target="/ppt/notesMasters/notesMaster1.xml" Id="R8da510c2152c4b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90e7b6345841f8" /><Relationship Type="http://schemas.openxmlformats.org/officeDocument/2006/relationships/notesMaster" Target="/ppt/notesMasters/notesMaster1.xml" Id="R4446976bf45249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e2e9dabe13442e" /><Relationship Type="http://schemas.openxmlformats.org/officeDocument/2006/relationships/notesMaster" Target="/ppt/notesMasters/notesMaster1.xml" Id="R3ef86b4b55284d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7b0878319a4886" /><Relationship Type="http://schemas.openxmlformats.org/officeDocument/2006/relationships/notesMaster" Target="/ppt/notesMasters/notesMaster1.xml" Id="Rfffffb51c1ec4e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39b99884624fe0" /><Relationship Type="http://schemas.openxmlformats.org/officeDocument/2006/relationships/notesMaster" Target="/ppt/notesMasters/notesMaster1.xml" Id="Re5ffe42564fc49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 (2018); tài liệu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al., Cell Detection with Star-convex Polygons, 2018.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Otsu (1979); Vincent &amp; Soille (1991).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benchmark do nhóm chạy bằng archive DSB2018 do StarDist công bố; Caicedo et al. (2019).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7193aa2994c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eb283335de484a" /><Relationship Type="http://schemas.openxmlformats.org/officeDocument/2006/relationships/slideLayout" Target="/ppt/slideLayouts/slideLayout1.xml" Id="Rb3db1cddfaaa4b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db1cddfaaa4b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f8bb044634547" /><Relationship Type="http://schemas.openxmlformats.org/officeDocument/2006/relationships/notesSlide" Target="/ppt/notesSlides/notesSlide1.xml" Id="R8258438bbce74f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bd7d240154e7c" /><Relationship Type="http://schemas.openxmlformats.org/officeDocument/2006/relationships/notesSlide" Target="/ppt/notesSlides/notesSlide2.xml" Id="R7ba517919aea45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095ab45764d32" /><Relationship Type="http://schemas.openxmlformats.org/officeDocument/2006/relationships/notesSlide" Target="/ppt/notesSlides/notesSlide3.xml" Id="Rb7f73db6b4a94d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49dff595948c3" /><Relationship Type="http://schemas.openxmlformats.org/officeDocument/2006/relationships/notesSlide" Target="/ppt/notesSlides/notesSlide4.xml" Id="R66298e61ceaf48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483a779094dc2" /><Relationship Type="http://schemas.openxmlformats.org/officeDocument/2006/relationships/notesSlide" Target="/ppt/notesSlides/notesSlide5.xml" Id="R11fcfc37c0644a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1cf99e57f4d07" /><Relationship Type="http://schemas.openxmlformats.org/officeDocument/2006/relationships/notesSlide" Target="/ppt/notesSlides/notesSlide6.xml" Id="R324d14266de34c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1de972dca472a" /><Relationship Type="http://schemas.openxmlformats.org/officeDocument/2006/relationships/image" Target="/ppt/media/image.png" Id="R30532af86a3a42c8" /><Relationship Type="http://schemas.openxmlformats.org/officeDocument/2006/relationships/notesSlide" Target="/ppt/notesSlides/notesSlide7.xml" Id="R97529cc454e44c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67a8dc74e4c86" /><Relationship Type="http://schemas.openxmlformats.org/officeDocument/2006/relationships/notesSlide" Target="/ppt/notesSlides/notesSlide8.xml" Id="R71b627dfa98140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596e08a0641ea" /><Relationship Type="http://schemas.openxmlformats.org/officeDocument/2006/relationships/chart" Target="/ppt/slides/charts/chart1.xml" Id="Rea40054c1b114731" /><Relationship Type="http://schemas.openxmlformats.org/officeDocument/2006/relationships/notesSlide" Target="/ppt/notesSlides/notesSlide9.xml" Id="Raa6c5a5cc9e949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00da1216d42cb" /><Relationship Type="http://schemas.openxmlformats.org/officeDocument/2006/relationships/image" Target="/ppt/media/image2.png" Id="R09727aee956648e6" /><Relationship Type="http://schemas.openxmlformats.org/officeDocument/2006/relationships/notesSlide" Target="/ppt/notesSlides/notesSlide10.xml" Id="Rbc9ef0010f2541f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AP@0.50</c:v>
          </c:tx>
          <c:spPr>
            <a:solidFill xmlns:a="http://schemas.openxmlformats.org/drawingml/2006/main">
              <a:srgbClr val="1363DF"/>
            </a:solidFill>
          </c:spPr>
          <c:cat>
            <c:strRef>
              <c:f>'Chart Data'!$A$2:$A$4</c:f>
              <c:strCache>
                <c:ptCount val="3"/>
                <c:pt idx="0">
                  <c:v>Otsu</c:v>
                </c:pt>
                <c:pt idx="1">
                  <c:v>Watershed</c:v>
                </c:pt>
                <c:pt idx="2">
                  <c:v>StarDist Python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0.643</c:v>
                </c:pt>
                <c:pt idx="1">
                  <c:v>0.715</c:v>
                </c:pt>
                <c:pt idx="2">
                  <c:v>0.853</c:v>
                </c:pt>
              </c:numCache>
            </c:numRef>
          </c:val>
        </c:ser>
        <c:ser>
          <c:idx val="1"/>
          <c:order val="1"/>
          <c:tx>
            <c:v>PQ@0.50</c:v>
          </c:tx>
          <c:spPr>
            <a:solidFill xmlns:a="http://schemas.openxmlformats.org/drawingml/2006/main">
              <a:srgbClr val="48CAE4"/>
            </a:solidFill>
          </c:spPr>
          <c:cat>
            <c:strRef>
              <c:f>'Chart Data'!$C$2:$C$4</c:f>
              <c:strCache>
                <c:ptCount val="3"/>
                <c:pt idx="0">
                  <c:v>Otsu</c:v>
                </c:pt>
                <c:pt idx="1">
                  <c:v>Watershed</c:v>
                </c:pt>
                <c:pt idx="2">
                  <c:v>StarDist Python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0.627</c:v>
                </c:pt>
                <c:pt idx="1">
                  <c:v>0.677</c:v>
                </c:pt>
                <c:pt idx="2">
                  <c:v>0.785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8D37B-0729-4E4A-A2AB-ABE9F8E6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ĐOẠN TỪNG ĐỐI TƯỢNG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BẰNG STARDIST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5FA0C-4FE4-4A6F-9E29-314B3D44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8CAE4"/>
                </a:solidFill>
                <a:latin typeface="Arial"/>
                <a:ea typeface="Arial"/>
                <a:cs typeface="Arial"/>
              </a:rPr>
              <a:t>Đối chiếu Fiji/ImageJ và cài đặt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5E61A-5C59-4BEB-B3AD-E69AF937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04CDE-84BD-4801-9168-316852F4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Bài tập lớn Xử lý ảnh số | Nhóm 03 | PTIT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9349A-CEC8-4A83-AECD-04575345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Nguyễn Hồng Quang — B23DCVT361</a:t>
            </a:r>
          </a:p>
          <a:p xmlns:a="http://schemas.openxmlformats.org/drawingml/2006/main">
            <a: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Nguyễn Trọng Nam Khánh — B23DCCE052</a:t>
            </a:r>
          </a:p>
          <a:p xmlns:a="http://schemas.openxmlformats.org/drawingml/2006/main">
            <a: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Vũ Dũng — B23DCVT110</a:t>
            </a:r>
          </a:p>
        </p:txBody>
      </p:sp>
    </p:spTree>
    <p:extLst>
      <p:ext uri="{BB962C8B-B14F-4D97-AF65-F5344CB8AC3E}">
        <p14:creationId xmlns:p14="http://schemas.microsoft.com/office/powerpoint/2010/main" val="17716085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D7825-8C55-4653-B812-FA73B488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Bài toán và 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478F0-E338-444D-8BBC-0E52B7FD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2C02D-2B31-40BC-B93C-D7DCFDA7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0CE7F-32BE-45BC-9DE6-2C95EE9F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Instance segmentation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72FE1-DECC-4B20-92CB-36E2D908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C3A2D-BB63-4A9A-8CC4-6D894456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18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Không chỉ nhận diện foreground mà còn gán ID riêng cho từng tế bào.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D2B93-DD75-4B2F-9599-5E219419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8E113-4D86-409A-97F8-6A7A0285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5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Cần thiết cho đếm tế bào, diện tích, hình dạng và phân tích sinh học.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54D9E-955A-47CB-9357-3CC5FE67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E5F91-0D6D-40B2-A032-E8460722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8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Khó nhất khi các nhân có biên mờ hoặc chạm nhau.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8BD39-A1F9-4854-9396-89C39E32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286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983E3-EE32-4FDA-B79E-E9771C7A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Mục tiêu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77A00-47BD-408C-A0FF-2D5C32FC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1. Hiểu StarDist và plugin Fiji</a:t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2. Cài đặt pipeline Python</a:t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3. So sánh với Otsu và Watershed</a:t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4. Đánh giá bằng metric instance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57DEC-3C43-49B1-974E-482BD34E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Ground truth là label image: nền = 0, mỗi instance có một ID dương.</a:t>
            </a:r>
          </a:p>
        </p:txBody>
      </p:sp>
    </p:spTree>
    <p:extLst>
      <p:ext uri="{BB962C8B-B14F-4D97-AF65-F5344CB8AC3E}">
        <p14:creationId xmlns:p14="http://schemas.microsoft.com/office/powerpoint/2010/main" val="20907826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0B311F-968D-47D1-9D8F-6DC9BC50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StarDist 2D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CAA73-BE79-4EC4-9EBD-BE6D4019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6E0CC-5383-431B-BA23-10150DF3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11BDD-1104-4977-82F3-BB32A07F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Mạng CNN/U-Net sinh hai trường dự đoán cho từng pixel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18D80-E3CC-4542-9A9A-6A5D7131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A5AE9-5C7C-46DA-88AD-3D113CE4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CF793-7F9A-49A4-827B-F4686E8C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Probability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F5154-D72A-4528-B4B6-D12ADBF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Score cao ở tâm object, thấp ở biên và nền.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270DA-0F8E-4A85-92B0-AFE5DD09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61495-FD0E-48B0-9424-D6F9F454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BA141-55FF-44A4-902B-70919236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Ray distances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5C2D9-D7F9-45B4-88DD-4AA81663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 khoảng cách đến biên theo các hướng cố định.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7DA4E-04A4-4A38-AE2A-58EF66B0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0ED6B-1F99-4226-98A6-EEA5E98A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B5370-0C09-4DCA-912F-B5C14CFA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Polygon + NMS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46133-5FE3-444E-B0CD-CC620107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Giải mã proposal và giữ một polygon cho mỗi object.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6AD6A-5289-4EC1-9F1A-98478111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92977-345B-4909-9A4F-2905041B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8746B-99A9-4596-8AE8-09E68EC3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Label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C6D03-BB07-4C70-AC18-74295704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Rasterize polygon thành nhãn instance để đo metric.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F5AD0-97AA-42FE-A0EB-ADAB32CF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StarDist paper dùng 32 tia trong các thí nghiệm 2D. Nguồn: Schmidt et al., 2018.</a:t>
            </a:r>
          </a:p>
        </p:txBody>
      </p:sp>
    </p:spTree>
    <p:extLst>
      <p:ext uri="{BB962C8B-B14F-4D97-AF65-F5344CB8AC3E}">
        <p14:creationId xmlns:p14="http://schemas.microsoft.com/office/powerpoint/2010/main" val="7841885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13852-9B64-47EB-8C6D-2B1C6275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Biểu diễn star-convex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85B65-ADCD-4F77-A3E5-2C0E5942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F4636-4D89-4948-A32E-8A88379A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26B44-874D-4D19-B03C-DA5599AF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Một object star-convex cho phép nối từ tâm đến mọi điểm biên mà không đi ra ngoài object.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8D309-F8CD-44B5-A593-36E83AAA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136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51724-456B-4B96-9695-D389FE2B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81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Tâm 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B1C46-DD12-4428-9FF9-404375D3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Các tia r₀ … rₖ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A289F-6601-4263-82E8-A9FE8420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vₖ(p) = p + r̂ₖ(p)(cos θₖ, sin θₖ)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DAD17-28E8-4D30-AAAC-C259AAF8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571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Mỗi pixel foreground có một vector khoảng cách.</a:t>
            </a:r>
          </a:p>
          <a:p xmlns:a="http://schemas.openxmlformats.org/drawingml/2006/main">
            <a:pPr algn="l">
              <a:defRPr sz="17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Nối các đầu tia tạo một đa giác đại diện cho instance.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0D776-F209-4944-8E40-7F5B7CF7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815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34A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4A00"/>
                </a:solidFill>
                <a:latin typeface="Arial"/>
                <a:ea typeface="Arial"/>
                <a:cs typeface="Arial"/>
              </a:rPr>
              <a:t>Giới hạn: hình vòng, nhiều nhánh hoặc lõm sâu có thể không phù hợp giả thiết.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7D12E-457D-4D57-93CA-BF1B70AB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Chi tiết công thức và phân tích sai số: docs/01_ly_thuyet_stardist.md.</a:t>
            </a:r>
          </a:p>
        </p:txBody>
      </p:sp>
    </p:spTree>
    <p:extLst>
      <p:ext uri="{BB962C8B-B14F-4D97-AF65-F5344CB8AC3E}">
        <p14:creationId xmlns:p14="http://schemas.microsoft.com/office/powerpoint/2010/main" val="17144392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CF7251-F796-4A14-BF9B-A64A1D4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Non-Maximum Suppression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DD2B2-C55E-4361-8CF3-28E65E06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D650D-47E3-4970-99B4-86A23A23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18975-9175-4458-B8B5-08FFCF89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CNN tạo nhiều proposal trùng cho một object. NMS chọn proposal có score cao trước.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6BD65-0605-40FE-80BC-BA9A433F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DABB2-3E9A-49D8-8DC8-D85CE515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2B5D6-AF49-4B36-8B43-F271A6FD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Lọc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69563-492E-4A0C-996F-FA51B153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Giữ pixel có probability ≥ ngưỡng.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76BCE-57AE-44F5-A747-5681D5DC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29F41-76C5-4634-A9A0-BE7EDBBF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8617F-28A6-432D-A6E5-8AFCF58A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Sắp theo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2B636-6094-442B-B358-CEEB3CCC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Proposal xác suất cao được xử lý trước.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0B010-AF01-4AAF-9D57-DAC65F28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62F33-F93A-4A4F-B5CB-2DDC695E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A6CA0-E416-4C83-8F8B-BDFF953D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So overlap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E7919-E98F-4E72-AC40-850A35E0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Loại proposal chồng lấn quá ngưỡng NMS.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CC69A-81FA-4209-9CE7-482CF972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0325C-56F9-492A-A7A5-3580EFE5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251EE-CB60-4759-B2C7-F07ED2A4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Gán nhãn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45305-38D4-45D5-859D-79B660C4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Proposal còn lại trở thành instance cuối.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927F7-39DB-45EF-B985-0F30D584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4A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4A00"/>
                </a:solidFill>
                <a:latin typeface="Arial"/>
                <a:ea typeface="Arial"/>
                <a:cs typeface="Arial"/>
              </a:rPr>
              <a:t>Probability threshold ảnh hưởng recall. NMS threshold ảnh hưởng merge/split. Chọn trên validation, không chọn trên test.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69B7F-96F9-44EB-9241-5A64836F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Phải ghi cả hai threshold trong run log Fiji và metadata Python.</a:t>
            </a:r>
          </a:p>
        </p:txBody>
      </p:sp>
    </p:spTree>
    <p:extLst>
      <p:ext uri="{BB962C8B-B14F-4D97-AF65-F5344CB8AC3E}">
        <p14:creationId xmlns:p14="http://schemas.microsoft.com/office/powerpoint/2010/main" val="9858587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6E7EA-A1BA-4D4E-988E-2564E6A4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Hai baseline cổ điển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DCC57-4739-47F1-B4A8-83F52203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51FB4-5773-48ED-98B2-47EE025E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FC960-2118-4CBA-8980-98ED7C9A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668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Otsu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AE29E-8BE8-40F9-9700-0F4C703F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Watershed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9A33F-FC86-4606-92F8-0DC81C35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D925E-098E-479D-A7E8-4C62D06B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10C8F-9906-496A-AC79-817B9E16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622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979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Ảnh → Gaussian → Otsu threshold</a:t>
            </a:r>
          </a:p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→ morphology → connected components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7F956-DA3E-4E6C-8F4B-7BB99503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623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6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Nhanh, đơn giản</a:t>
            </a:r>
          </a:p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Nhược điểm: gộp object chạm nhau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02BEF-C845-448A-BCC8-11F17C98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622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767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 mask → EDT → local-max markers</a:t>
            </a:r>
          </a:p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→ watershed(−distance)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F596B-E731-420C-825A-E95C0144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623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08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Có thể tách blob</a:t>
            </a:r>
          </a:p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Nhạy marker, nhiễu và min-distance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E57A2-1146-4F46-8C14-4BC5C1A5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 sánh công bằng bằng cùng input, ground truth, split và instance metrics.</a:t>
            </a:r>
          </a:p>
        </p:txBody>
      </p:sp>
    </p:spTree>
    <p:extLst>
      <p:ext uri="{BB962C8B-B14F-4D97-AF65-F5344CB8AC3E}">
        <p14:creationId xmlns:p14="http://schemas.microsoft.com/office/powerpoint/2010/main" val="21218729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B278D-6DC8-46CE-A9D6-B16DA245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Fiji/ImageJ: nền tảng tham chiếu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E11B4-B5F6-4133-AE5A-7442253D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7CF3A-A244-4769-BEFF-2941797A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D9532-6204-4DB4-AA05-3D478948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1B396-3FF7-4BDF-A73A-19218F0D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6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Artifact plugin thật: StarDist 0.3.0-scijava, ImageJ 2.9 + legacy 1.53t.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F08AD-EAC7-477C-84FC-F8C15D78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F2631-B776-4F6D-B04C-0C81D40E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Model fluorescent nuclei; pmin/pmax 1/99.8; probability .479071; NMS .3.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10FD6-4C62-4446-91A9-99C0ACCB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E197C-C570-4E54-BCFB-0871576E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37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Java 8 + TensorFlow 1.12 CPU; xuất Label Image TIFF, log đầy đủ runtime.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BD0EB-A44D-477A-8DC5-370F027A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25265-62F3-4DB7-8ADB-D4C923DB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34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Kiểm chứng trước trên ba ca low/median/high; Python đọc đúng TIFF plugin xuất.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F32FD-F292-496C-A3C0-644A1DFE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857F2-0067-44D4-BCC9-57DB4B5C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Không gộp 3 ca Fiji vào benchmark 50 ảnh hoặc dùng để xếp hạng.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6999A-0B90-4B97-A84A-4A0747BC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4476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 w="9525">
            <a:solidFill>
              <a:srgbClr val="9FD8E5"/>
            </a:solidFill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32af86a3a42c8"/>
          <a:stretch xmlns:a="http://schemas.openxmlformats.org/drawingml/2006/main"/>
        </p:blipFill>
        <p:spPr>
          <a:xfrm xmlns:a="http://schemas.openxmlformats.org/drawingml/2006/main">
            <a:off x="7426277" y="1504950"/>
            <a:ext cx="3530695" cy="33718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74176-4884-4DF8-905B-3869DE11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53000"/>
            <a:ext cx="401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AP@.50 = .801±.244 | PQ = .788±.160 | n =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30126-56A3-4F48-AEC1-0B880BE5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Evidence: results/fiji_labels/, fiji/run_log_dsb2018_reference.csv và results/fiji_reference/.</a:t>
            </a:r>
          </a:p>
        </p:txBody>
      </p:sp>
    </p:spTree>
    <p:extLst>
      <p:ext uri="{BB962C8B-B14F-4D97-AF65-F5344CB8AC3E}">
        <p14:creationId xmlns:p14="http://schemas.microsoft.com/office/powerpoint/2010/main" val="10716572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7202D-FCD6-4932-8A03-CD7982C2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Cài đặt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8D9A3-C502-4D4B-94B6-B946331A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96BDE-8865-479A-9131-9FD02470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0604F-B2BD-40F9-9C33-0FFC31D9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Package xla_gr03 tách rõ phần nhóm tự viết và thư viện pretrained.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3E15A-DDC8-4CBD-8C1E-BB2AD105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AA31D-9DCB-4245-B62E-E803E34A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preprocessing.py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A1E33-0E73-45F4-B73E-525BE440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grayscale, percentile normalization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DDFEF-22F8-4602-A867-F39D8A1C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43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367E8-DFE4-4742-829B-E68DF591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baselines.py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87443-0C5B-4FD3-95A9-69AB7565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 + connected components, Watershed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B7FFF-47CC-413F-8751-8333A2F7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955D3-1BFB-46AF-A4DA-110DC80D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geometry.py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FE29D-C217-4957-BB91-CE1E47C3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EDT, ray distances, polygon, NMS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246EF-1F9A-487A-8C63-EF349A84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86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6CD9A-F287-4D0F-A5DC-F28A39ED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metrics.py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6FF3A-ABAA-4F79-8764-729D8790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IoU, Hungarian matching, AP/PQ/Dice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E9FE6-43FB-4FC0-A8D9-571C9E9A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BD15F-8099-4F47-812F-90806E93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stardist_pipeline.py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DAA72-5A18-427D-8BF3-502DCF50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wrapper StarDist pretrained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E76C4-B042-4309-AB41-49E75CDD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29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7DC83-E252-474B-A2D0-9B115E56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cli.py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254835-59BC-4805-A328-A57DF29A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segment và evaluate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126CCA-FB7A-4981-9E61-DA766D23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Chạy: python scripts/run_experiment.py ... | Test/lint: pytest; ruff check .</a:t>
            </a:r>
          </a:p>
        </p:txBody>
      </p:sp>
    </p:spTree>
    <p:extLst>
      <p:ext uri="{BB962C8B-B14F-4D97-AF65-F5344CB8AC3E}">
        <p14:creationId xmlns:p14="http://schemas.microsoft.com/office/powerpoint/2010/main" val="9803297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A77C79-F2B2-4631-9D93-0D408F44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Benchmark DSB2018: 50 ảnh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165BC-E854-4683-A4F7-3FD7AC1C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84CF1-202A-40EF-8E51-45CAF2BC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42917-47BA-4252-A90A-DB4B6BDE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Watershed chọn min-distance = 9 trên 30 ảnh train. StarDist dùng model default threshold, không tune trên test.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5619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40054c1b11473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E4F03-785E-4C5A-9210-C1B2FE2F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1371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40B5F-0E98-4A2E-8F02-F6FA0D53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36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11F08-2333-43ED-9E6E-6A57DF13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43125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A7023-8D63-4A20-8AE2-AB557CBE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AP@.50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403BE-B5C7-4020-8B97-716D483B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E350A-B251-402E-9C1D-B962D7C7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PQ@.50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30874-8751-40CA-A203-CCFFEACB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43125"/>
            <a:ext cx="914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B59EB-8BAA-449A-B631-7C52B7BE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399A4-D457-493A-B417-BCF18344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143125"/>
            <a:ext cx="495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96BA9-2B6A-4215-B832-FE14E806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336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26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A4FF5-C75B-4389-B821-96C536A8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1371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D97D3-52CB-452C-9753-B38FB2B9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527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5E706-4C15-4F02-9C84-722ACE42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65926-0E3E-4997-B3F7-95FE1275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.643±.238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180DD-8587-4057-BE88-0FE9BD70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62250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5BC86-2709-4D1E-8E72-FE02557F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.627±.208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EEE31-576A-4278-995C-6A4974D8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62250"/>
            <a:ext cx="914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A196E7-8A49-4855-87BE-60CB9C74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.895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97C5D4-F96B-4A14-BB3D-A0F80DA8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62250"/>
            <a:ext cx="495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5DF84-B48C-46A7-B4EE-D0A11813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52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15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14.06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2C7CEC-33A0-4E75-AE2A-1D07E4D3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1371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4F02ED-4725-4AC1-95FF-03BB0CD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7187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Watershed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A114A4-F9B4-4749-8A21-DB1E6953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81375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8E7B8C-4ED6-4664-9294-E47323E7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7187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.715±.199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44A668-0067-4380-8D22-47BDB68E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81375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F025BA-FD70-4944-A840-FEC5739A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7187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.677±.166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AC8146-1AA8-4C3A-B87B-40F802D2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81375"/>
            <a:ext cx="914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825581-E0D9-4AD2-B9F3-5D37BE07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7187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.894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7BE3CC-BB72-4500-B5FF-4F9C3823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381375"/>
            <a:ext cx="495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A1A749-74E4-4F58-8F9B-ABC08283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5718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4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6.94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343764-6C3D-4BA6-AAC0-6FE91399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1371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81E75B-289C-4A3E-936B-79316DE1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910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StarDist Python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566A8D-B1E7-45D7-BBF8-5D46253A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545E78-F29E-4D7F-99EB-18E40C89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.853±.120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FC33B9-16D1-4834-954D-969DFA94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00500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B37078-BA64-43ED-B28A-EE5208C0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910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.785±.110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7025AF-9C77-4DEA-8F4E-F3867D5C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00500"/>
            <a:ext cx="914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C90AAC-4760-472F-805A-42913206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91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.916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CDDAC9-DB43-4789-A3A2-15FA7AB4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00500"/>
            <a:ext cx="495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E2769D-B3D5-4F7C-B47A-BB4961B0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4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3.44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CEEAC1-75FD-4CA5-86C5-7787003F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4A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4A00"/>
                </a:solidFill>
                <a:latin typeface="Arial"/>
                <a:ea typeface="Arial"/>
                <a:cs typeface="Arial"/>
              </a:rPr>
              <a:t>StarDist tăng AP/PQ và giảm sai số đếm; runtime Python CPU 0.112 s/ảnh. Evidence Fiji n=3 trình bày riêng ở slide 7.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AA9C25-E803-4900-ACAD-82C46327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± SD trên 50 test images. CSV: results/dsb2018_benchmark/summary_metrics.csv.</a:t>
            </a:r>
          </a:p>
        </p:txBody>
      </p:sp>
    </p:spTree>
    <p:extLst>
      <p:ext uri="{BB962C8B-B14F-4D97-AF65-F5344CB8AC3E}">
        <p14:creationId xmlns:p14="http://schemas.microsoft.com/office/powerpoint/2010/main" val="19883020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4412B-E485-48C5-81D9-DC5E2BD2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Kết luận và case định tính trung vị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E0C3A-27DC-4D4B-B202-C250B2A6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902F5-A115-48D6-95D1-0EC4A48D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15570-463D-40F0-B166-9AF1B4C7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BBF05-D859-4ABA-BA20-285B41B1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66800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StarDist tăng AP@.50/PQ và giảm MAE đếm trên 50 ảnh test; Dice foreground riêng lẻ không đủ nói lên chất lượng instance.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22AC9-4604-4458-A8CC-C9F02DB1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B1C3D-8254-47AC-BDF1-E9F8B434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97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83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Case trung vị bên dưới cho thấy Otsu thường merge nhân chạm nhau, Watershed cải thiện nhờ marker, StarDist bám ground truth sát hơn.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E94A1-C22F-47AD-9241-9A347C44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858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27aee956648e6"/>
          <a:stretch xmlns:a="http://schemas.openxmlformats.org/drawingml/2006/main"/>
        </p:blipFill>
        <p:spPr>
          <a:xfrm xmlns:a="http://schemas.openxmlformats.org/drawingml/2006/main">
            <a:off x="726361" y="2352675"/>
            <a:ext cx="10739277" cy="2228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ADF4E-28FD-47AB-B883-D74E5B44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Chốt nộp bài: điền tên/MSSV/mã nhóm • PDF, code, 50-image benchmark và evidence Fiji/ImageJ n=3 đã sẵn sàng.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BC0C3-ED63-4B7B-9779-C0DA0F5C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Evidence: results/dsb2018_benchmark/figures/qualitative_median.png và results/fiji_reference/.</a:t>
            </a:r>
          </a:p>
        </p:txBody>
      </p:sp>
    </p:spTree>
    <p:extLst>
      <p:ext uri="{BB962C8B-B14F-4D97-AF65-F5344CB8AC3E}">
        <p14:creationId xmlns:p14="http://schemas.microsoft.com/office/powerpoint/2010/main" val="954649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2026-10-04T03:09:37.9170000Z</dcterms:created>
  <dcterms:modified xsi:type="dcterms:W3CDTF">2026-10-04T03:09:37.9170000Z</dcterms:modified>
</coreProperties>
</file>